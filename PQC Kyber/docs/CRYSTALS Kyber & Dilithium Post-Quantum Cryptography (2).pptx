
<file path=[Content_Types].xml><?xml version="1.0" encoding="utf-8"?>
<Types xmlns="http://schemas.openxmlformats.org/package/2006/content-types">
  <Default Extension="bin" ContentType="application/vnd.openxmlformats-officedocument.oleObject"/>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8" r:id="rId11"/>
    <p:sldId id="265" r:id="rId12"/>
    <p:sldId id="266" r:id="rId13"/>
    <p:sldId id="267" r:id="rId14"/>
  </p:sldIdLst>
  <p:sldSz cx="18288000" cy="10287000"/>
  <p:notesSz cx="6858000" cy="9144000"/>
  <p:embeddedFontLst>
    <p:embeddedFont>
      <p:font typeface="Open Sans" panose="020B0606030504020204" pitchFamily="34" charset="0"/>
      <p:regular r:id="rId15"/>
    </p:embeddedFont>
    <p:embeddedFont>
      <p:font typeface="Poppins" panose="00000500000000000000" pitchFamily="2" charset="0"/>
      <p:regular r:id="rId16"/>
    </p:embeddedFont>
    <p:embeddedFont>
      <p:font typeface="Times New Roman MT Condensed" panose="020B0604020202020204" charset="0"/>
      <p:regular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p:scale>
          <a:sx n="50" d="100"/>
          <a:sy n="50" d="100"/>
        </p:scale>
        <p:origin x="1914" y="72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1.fntdata"/><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7/13/2026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7/13/2026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7/13/2026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7/13/2026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7/13/2026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7/13/2026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7/13/2026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png"/><Relationship Id="rId7" Type="http://schemas.openxmlformats.org/officeDocument/2006/relationships/image" Target="../media/image6.jpeg"/><Relationship Id="rId2" Type="http://schemas.openxmlformats.org/officeDocument/2006/relationships/image" Target="../media/image1.sv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svg"/><Relationship Id="rId9" Type="http://schemas.openxmlformats.org/officeDocument/2006/relationships/image" Target="../media/image8.svg"/></Relationships>
</file>

<file path=ppt/slides/_rels/slide2.xml.rels><?xml version="1.0" encoding="UTF-8" standalone="yes"?>
<Relationships xmlns="http://schemas.openxmlformats.org/package/2006/relationships"><Relationship Id="rId8" Type="http://schemas.openxmlformats.org/officeDocument/2006/relationships/image" Target="../media/image13.jpeg"/><Relationship Id="rId3" Type="http://schemas.openxmlformats.org/officeDocument/2006/relationships/image" Target="../media/image2.png"/><Relationship Id="rId7" Type="http://schemas.openxmlformats.org/officeDocument/2006/relationships/image" Target="../media/image12.svg"/><Relationship Id="rId2" Type="http://schemas.openxmlformats.org/officeDocument/2006/relationships/image" Target="../media/image1.svg"/><Relationship Id="rId1" Type="http://schemas.openxmlformats.org/officeDocument/2006/relationships/slideLayout" Target="../slideLayouts/slideLayout7.xml"/><Relationship Id="rId6" Type="http://schemas.openxmlformats.org/officeDocument/2006/relationships/image" Target="../media/image11.svg"/><Relationship Id="rId5" Type="http://schemas.openxmlformats.org/officeDocument/2006/relationships/image" Target="../media/image10.svg"/><Relationship Id="rId4" Type="http://schemas.openxmlformats.org/officeDocument/2006/relationships/image" Target="../media/image3.sv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svg"/><Relationship Id="rId1" Type="http://schemas.openxmlformats.org/officeDocument/2006/relationships/slideLayout" Target="../slideLayouts/slideLayout7.xml"/><Relationship Id="rId6" Type="http://schemas.openxmlformats.org/officeDocument/2006/relationships/image" Target="../media/image14.png"/><Relationship Id="rId5" Type="http://schemas.openxmlformats.org/officeDocument/2006/relationships/image" Target="../media/image11.svg"/><Relationship Id="rId4" Type="http://schemas.openxmlformats.org/officeDocument/2006/relationships/image" Target="../media/image3.sv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15.png"/><Relationship Id="rId2" Type="http://schemas.openxmlformats.org/officeDocument/2006/relationships/image" Target="../media/image1.svg"/><Relationship Id="rId1" Type="http://schemas.openxmlformats.org/officeDocument/2006/relationships/slideLayout" Target="../slideLayouts/slideLayout7.xml"/><Relationship Id="rId6" Type="http://schemas.openxmlformats.org/officeDocument/2006/relationships/image" Target="../media/image11.svg"/><Relationship Id="rId5" Type="http://schemas.openxmlformats.org/officeDocument/2006/relationships/image" Target="../media/image10.svg"/><Relationship Id="rId4" Type="http://schemas.openxmlformats.org/officeDocument/2006/relationships/image" Target="../media/image3.svg"/></Relationships>
</file>

<file path=ppt/slides/_rels/slide5.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2.png"/><Relationship Id="rId7" Type="http://schemas.openxmlformats.org/officeDocument/2006/relationships/image" Target="../media/image16.png"/><Relationship Id="rId2" Type="http://schemas.openxmlformats.org/officeDocument/2006/relationships/image" Target="../media/image1.svg"/><Relationship Id="rId1" Type="http://schemas.openxmlformats.org/officeDocument/2006/relationships/slideLayout" Target="../slideLayouts/slideLayout7.xml"/><Relationship Id="rId6" Type="http://schemas.openxmlformats.org/officeDocument/2006/relationships/image" Target="../media/image11.svg"/><Relationship Id="rId5" Type="http://schemas.openxmlformats.org/officeDocument/2006/relationships/image" Target="../media/image10.svg"/><Relationship Id="rId4" Type="http://schemas.openxmlformats.org/officeDocument/2006/relationships/image" Target="../media/image3.sv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16.png"/><Relationship Id="rId2" Type="http://schemas.openxmlformats.org/officeDocument/2006/relationships/image" Target="../media/image1.svg"/><Relationship Id="rId1" Type="http://schemas.openxmlformats.org/officeDocument/2006/relationships/slideLayout" Target="../slideLayouts/slideLayout7.xml"/><Relationship Id="rId6" Type="http://schemas.openxmlformats.org/officeDocument/2006/relationships/image" Target="../media/image11.svg"/><Relationship Id="rId5" Type="http://schemas.openxmlformats.org/officeDocument/2006/relationships/image" Target="../media/image10.svg"/><Relationship Id="rId4" Type="http://schemas.openxmlformats.org/officeDocument/2006/relationships/image" Target="../media/image3.sv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svg"/><Relationship Id="rId1" Type="http://schemas.openxmlformats.org/officeDocument/2006/relationships/slideLayout" Target="../slideLayouts/slideLayout7.xml"/><Relationship Id="rId6" Type="http://schemas.openxmlformats.org/officeDocument/2006/relationships/image" Target="../media/image18.png"/><Relationship Id="rId5" Type="http://schemas.openxmlformats.org/officeDocument/2006/relationships/image" Target="../media/image11.svg"/><Relationship Id="rId4" Type="http://schemas.openxmlformats.org/officeDocument/2006/relationships/image" Target="../media/image3.sv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19.png"/><Relationship Id="rId2" Type="http://schemas.openxmlformats.org/officeDocument/2006/relationships/image" Target="../media/image1.svg"/><Relationship Id="rId1" Type="http://schemas.openxmlformats.org/officeDocument/2006/relationships/slideLayout" Target="../slideLayouts/slideLayout7.xml"/><Relationship Id="rId6" Type="http://schemas.openxmlformats.org/officeDocument/2006/relationships/image" Target="../media/image11.svg"/><Relationship Id="rId5" Type="http://schemas.openxmlformats.org/officeDocument/2006/relationships/image" Target="../media/image10.svg"/><Relationship Id="rId4" Type="http://schemas.openxmlformats.org/officeDocument/2006/relationships/image" Target="../media/image3.sv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20.png"/><Relationship Id="rId2" Type="http://schemas.openxmlformats.org/officeDocument/2006/relationships/image" Target="../media/image1.svg"/><Relationship Id="rId1" Type="http://schemas.openxmlformats.org/officeDocument/2006/relationships/slideLayout" Target="../slideLayouts/slideLayout7.xml"/><Relationship Id="rId6" Type="http://schemas.openxmlformats.org/officeDocument/2006/relationships/image" Target="../media/image11.svg"/><Relationship Id="rId5" Type="http://schemas.openxmlformats.org/officeDocument/2006/relationships/image" Target="../media/image10.svg"/><Relationship Id="rId4" Type="http://schemas.openxmlformats.org/officeDocument/2006/relationships/image" Target="../media/image3.sv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21.png"/><Relationship Id="rId2" Type="http://schemas.openxmlformats.org/officeDocument/2006/relationships/image" Target="../media/image1.svg"/><Relationship Id="rId1" Type="http://schemas.openxmlformats.org/officeDocument/2006/relationships/slideLayout" Target="../slideLayouts/slideLayout7.xml"/><Relationship Id="rId6" Type="http://schemas.openxmlformats.org/officeDocument/2006/relationships/image" Target="../media/image11.svg"/><Relationship Id="rId5" Type="http://schemas.openxmlformats.org/officeDocument/2006/relationships/image" Target="../media/image10.svg"/><Relationship Id="rId4" Type="http://schemas.openxmlformats.org/officeDocument/2006/relationships/image" Target="../media/image3.sv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22.png"/><Relationship Id="rId2" Type="http://schemas.openxmlformats.org/officeDocument/2006/relationships/image" Target="../media/image1.svg"/><Relationship Id="rId1" Type="http://schemas.openxmlformats.org/officeDocument/2006/relationships/slideLayout" Target="../slideLayouts/slideLayout7.xml"/><Relationship Id="rId6" Type="http://schemas.openxmlformats.org/officeDocument/2006/relationships/image" Target="../media/image11.svg"/><Relationship Id="rId5" Type="http://schemas.openxmlformats.org/officeDocument/2006/relationships/image" Target="../media/image10.svg"/><Relationship Id="rId4" Type="http://schemas.openxmlformats.org/officeDocument/2006/relationships/image" Target="../media/image3.svg"/></Relationships>
</file>

<file path=ppt/slides/_rels/slide12.xml.rels><?xml version="1.0" encoding="UTF-8" standalone="yes"?>
<Relationships xmlns="http://schemas.openxmlformats.org/package/2006/relationships"><Relationship Id="rId8" Type="http://schemas.openxmlformats.org/officeDocument/2006/relationships/image" Target="../media/image24.jpeg"/><Relationship Id="rId3" Type="http://schemas.openxmlformats.org/officeDocument/2006/relationships/image" Target="../media/image2.png"/><Relationship Id="rId7" Type="http://schemas.openxmlformats.org/officeDocument/2006/relationships/image" Target="../media/image23.jpeg"/><Relationship Id="rId2" Type="http://schemas.openxmlformats.org/officeDocument/2006/relationships/image" Target="../media/image1.svg"/><Relationship Id="rId1" Type="http://schemas.openxmlformats.org/officeDocument/2006/relationships/slideLayout" Target="../slideLayouts/slideLayout7.xml"/><Relationship Id="rId6" Type="http://schemas.openxmlformats.org/officeDocument/2006/relationships/image" Target="../media/image11.svg"/><Relationship Id="rId5" Type="http://schemas.openxmlformats.org/officeDocument/2006/relationships/image" Target="../media/image10.svg"/><Relationship Id="rId10" Type="http://schemas.openxmlformats.org/officeDocument/2006/relationships/image" Target="../media/image25.png"/><Relationship Id="rId4" Type="http://schemas.openxmlformats.org/officeDocument/2006/relationships/image" Target="../media/image3.svg"/><Relationship Id="rId9" Type="http://schemas.openxmlformats.org/officeDocument/2006/relationships/oleObject" Target="../embeddings/oleObject1.bin"/></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26.jpeg"/><Relationship Id="rId2" Type="http://schemas.openxmlformats.org/officeDocument/2006/relationships/image" Target="../media/image1.svg"/><Relationship Id="rId1" Type="http://schemas.openxmlformats.org/officeDocument/2006/relationships/slideLayout" Target="../slideLayouts/slideLayout7.xml"/><Relationship Id="rId6" Type="http://schemas.openxmlformats.org/officeDocument/2006/relationships/image" Target="../media/image11.svg"/><Relationship Id="rId5" Type="http://schemas.openxmlformats.org/officeDocument/2006/relationships/image" Target="../media/image10.svg"/><Relationship Id="rId4" Type="http://schemas.openxmlformats.org/officeDocument/2006/relationships/image" Target="../media/image3.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sp>
      <p:sp>
        <p:nvSpPr>
          <p:cNvPr id="4" name="Freeform 4"/>
          <p:cNvSpPr/>
          <p:nvPr/>
        </p:nvSpPr>
        <p:spPr>
          <a:xfrm>
            <a:off x="-55566" y="-79379"/>
            <a:ext cx="18446746" cy="10445746"/>
          </a:xfrm>
          <a:custGeom>
            <a:avLst/>
            <a:gdLst/>
            <a:ahLst/>
            <a:cxnLst/>
            <a:rect l="l" t="t" r="r" b="b"/>
            <a:pathLst>
              <a:path w="18446746" h="10445746">
                <a:moveTo>
                  <a:pt x="0" y="0"/>
                </a:moveTo>
                <a:lnTo>
                  <a:pt x="18446746" y="0"/>
                </a:lnTo>
                <a:lnTo>
                  <a:pt x="18446746" y="10445746"/>
                </a:lnTo>
                <a:lnTo>
                  <a:pt x="0" y="10445746"/>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5" name="Freeform 5"/>
          <p:cNvSpPr/>
          <p:nvPr/>
        </p:nvSpPr>
        <p:spPr>
          <a:xfrm>
            <a:off x="16049018" y="9686925"/>
            <a:ext cx="2153257" cy="514350"/>
          </a:xfrm>
          <a:custGeom>
            <a:avLst/>
            <a:gdLst/>
            <a:ahLst/>
            <a:cxnLst/>
            <a:rect l="l" t="t" r="r" b="b"/>
            <a:pathLst>
              <a:path w="2153257" h="514350">
                <a:moveTo>
                  <a:pt x="0" y="0"/>
                </a:moveTo>
                <a:lnTo>
                  <a:pt x="2153257" y="0"/>
                </a:lnTo>
                <a:lnTo>
                  <a:pt x="2153257" y="514350"/>
                </a:lnTo>
                <a:lnTo>
                  <a:pt x="0" y="514350"/>
                </a:lnTo>
                <a:lnTo>
                  <a:pt x="0" y="0"/>
                </a:lnTo>
                <a:close/>
              </a:path>
            </a:pathLst>
          </a:custGeom>
          <a:blipFill>
            <a:blip r:embed="rId5"/>
            <a:stretch>
              <a:fillRect/>
            </a:stretch>
          </a:blipFill>
        </p:spPr>
      </p:sp>
      <p:sp>
        <p:nvSpPr>
          <p:cNvPr id="6" name="Freeform 6"/>
          <p:cNvSpPr/>
          <p:nvPr/>
        </p:nvSpPr>
        <p:spPr>
          <a:xfrm>
            <a:off x="9144000" y="0"/>
            <a:ext cx="9144000" cy="10287000"/>
          </a:xfrm>
          <a:custGeom>
            <a:avLst/>
            <a:gdLst/>
            <a:ahLst/>
            <a:cxnLst/>
            <a:rect l="l" t="t" r="r" b="b"/>
            <a:pathLst>
              <a:path w="9144000" h="10287000">
                <a:moveTo>
                  <a:pt x="0" y="0"/>
                </a:moveTo>
                <a:lnTo>
                  <a:pt x="9144000" y="0"/>
                </a:lnTo>
                <a:lnTo>
                  <a:pt x="9144000" y="10287000"/>
                </a:lnTo>
                <a:lnTo>
                  <a:pt x="0" y="10287000"/>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7" name="Freeform 7"/>
          <p:cNvSpPr/>
          <p:nvPr/>
        </p:nvSpPr>
        <p:spPr>
          <a:xfrm>
            <a:off x="9144000" y="0"/>
            <a:ext cx="9144000" cy="10287000"/>
          </a:xfrm>
          <a:custGeom>
            <a:avLst/>
            <a:gdLst/>
            <a:ahLst/>
            <a:cxnLst/>
            <a:rect l="l" t="t" r="r" b="b"/>
            <a:pathLst>
              <a:path w="9144000" h="10287000">
                <a:moveTo>
                  <a:pt x="0" y="0"/>
                </a:moveTo>
                <a:lnTo>
                  <a:pt x="9144000" y="0"/>
                </a:lnTo>
                <a:lnTo>
                  <a:pt x="9144000" y="10287000"/>
                </a:lnTo>
                <a:lnTo>
                  <a:pt x="0" y="10287000"/>
                </a:lnTo>
                <a:lnTo>
                  <a:pt x="0" y="0"/>
                </a:lnTo>
                <a:close/>
              </a:path>
            </a:pathLst>
          </a:custGeom>
          <a:blipFill>
            <a:blip r:embed="rId7"/>
            <a:stretch>
              <a:fillRect/>
            </a:stretch>
          </a:blipFill>
        </p:spPr>
      </p:sp>
      <p:sp>
        <p:nvSpPr>
          <p:cNvPr id="8" name="Freeform 8"/>
          <p:cNvSpPr/>
          <p:nvPr/>
        </p:nvSpPr>
        <p:spPr>
          <a:xfrm>
            <a:off x="992243" y="5023092"/>
            <a:ext cx="7159526" cy="2126159"/>
          </a:xfrm>
          <a:custGeom>
            <a:avLst/>
            <a:gdLst/>
            <a:ahLst/>
            <a:cxnLst/>
            <a:rect l="l" t="t" r="r" b="b"/>
            <a:pathLst>
              <a:path w="7159526" h="2126159">
                <a:moveTo>
                  <a:pt x="0" y="0"/>
                </a:moveTo>
                <a:lnTo>
                  <a:pt x="7159526" y="0"/>
                </a:lnTo>
                <a:lnTo>
                  <a:pt x="7159526" y="2126159"/>
                </a:lnTo>
                <a:lnTo>
                  <a:pt x="0" y="2126159"/>
                </a:lnTo>
                <a:lnTo>
                  <a:pt x="0" y="0"/>
                </a:lnTo>
                <a:close/>
              </a:path>
            </a:pathLst>
          </a:custGeom>
          <a:blipFill>
            <a:blip>
              <a:extLst>
                <a:ext uri="{96DAC541-7B7A-43D3-8B79-37D633B846F1}">
                  <asvg:svgBlip xmlns:asvg="http://schemas.microsoft.com/office/drawing/2016/SVG/main" r:embed="rId8"/>
                </a:ext>
              </a:extLst>
            </a:blip>
            <a:stretch>
              <a:fillRect/>
            </a:stretch>
          </a:blipFill>
        </p:spPr>
      </p:sp>
      <p:sp>
        <p:nvSpPr>
          <p:cNvPr id="9" name="Freeform 9"/>
          <p:cNvSpPr/>
          <p:nvPr/>
        </p:nvSpPr>
        <p:spPr>
          <a:xfrm>
            <a:off x="992243" y="2600051"/>
            <a:ext cx="7159502" cy="1771876"/>
          </a:xfrm>
          <a:custGeom>
            <a:avLst/>
            <a:gdLst/>
            <a:ahLst/>
            <a:cxnLst/>
            <a:rect l="l" t="t" r="r" b="b"/>
            <a:pathLst>
              <a:path w="7159502" h="1771876">
                <a:moveTo>
                  <a:pt x="0" y="0"/>
                </a:moveTo>
                <a:lnTo>
                  <a:pt x="7159502" y="0"/>
                </a:lnTo>
                <a:lnTo>
                  <a:pt x="7159502" y="1771876"/>
                </a:lnTo>
                <a:lnTo>
                  <a:pt x="0" y="1771876"/>
                </a:lnTo>
                <a:lnTo>
                  <a:pt x="0" y="0"/>
                </a:lnTo>
                <a:close/>
              </a:path>
            </a:pathLst>
          </a:custGeom>
          <a:blipFill>
            <a:blip>
              <a:extLst>
                <a:ext uri="{96DAC541-7B7A-43D3-8B79-37D633B846F1}">
                  <asvg:svgBlip xmlns:asvg="http://schemas.microsoft.com/office/drawing/2016/SVG/main" r:embed="rId9"/>
                </a:ext>
              </a:extLst>
            </a:blip>
            <a:stretch>
              <a:fillRect/>
            </a:stretch>
          </a:blipFill>
        </p:spPr>
      </p:sp>
      <p:sp>
        <p:nvSpPr>
          <p:cNvPr id="10" name="Freeform 10"/>
          <p:cNvSpPr/>
          <p:nvPr/>
        </p:nvSpPr>
        <p:spPr>
          <a:xfrm>
            <a:off x="9132088" y="-79379"/>
            <a:ext cx="12619119" cy="10445746"/>
          </a:xfrm>
          <a:custGeom>
            <a:avLst/>
            <a:gdLst/>
            <a:ahLst/>
            <a:cxnLst/>
            <a:rect l="l" t="t" r="r" b="b"/>
            <a:pathLst>
              <a:path w="12619119" h="10445746">
                <a:moveTo>
                  <a:pt x="0" y="0"/>
                </a:moveTo>
                <a:lnTo>
                  <a:pt x="12619119" y="0"/>
                </a:lnTo>
                <a:lnTo>
                  <a:pt x="12619119" y="10445746"/>
                </a:lnTo>
                <a:lnTo>
                  <a:pt x="0" y="10445746"/>
                </a:lnTo>
                <a:lnTo>
                  <a:pt x="0" y="0"/>
                </a:lnTo>
                <a:close/>
              </a:path>
            </a:pathLst>
          </a:custGeom>
          <a:blipFill>
            <a:blip r:embed="rId10"/>
            <a:stretch>
              <a:fillRect l="-9881"/>
            </a:stretch>
          </a:blipFill>
        </p:spPr>
      </p:sp>
      <p:sp>
        <p:nvSpPr>
          <p:cNvPr id="11" name="TextBox 11"/>
          <p:cNvSpPr txBox="1"/>
          <p:nvPr/>
        </p:nvSpPr>
        <p:spPr>
          <a:xfrm>
            <a:off x="1028700" y="2948112"/>
            <a:ext cx="7269790" cy="4114538"/>
          </a:xfrm>
          <a:prstGeom prst="rect">
            <a:avLst/>
          </a:prstGeom>
        </p:spPr>
        <p:txBody>
          <a:bodyPr lIns="0" tIns="0" rIns="0" bIns="0" rtlCol="0" anchor="t">
            <a:spAutoFit/>
          </a:bodyPr>
          <a:lstStyle/>
          <a:p>
            <a:pPr algn="l">
              <a:lnSpc>
                <a:spcPts val="8327"/>
              </a:lnSpc>
            </a:pPr>
            <a:r>
              <a:rPr lang="en-US" sz="5562" spc="11">
                <a:solidFill>
                  <a:srgbClr val="CBCCCE"/>
                </a:solidFill>
                <a:latin typeface="Times New Roman MT Condensed"/>
                <a:ea typeface="Times New Roman MT Condensed"/>
                <a:cs typeface="Times New Roman MT Condensed"/>
                <a:sym typeface="Times New Roman MT Condensed"/>
              </a:rPr>
              <a:t>CRYSTALS </a:t>
            </a:r>
          </a:p>
          <a:p>
            <a:pPr algn="l">
              <a:lnSpc>
                <a:spcPts val="8327"/>
              </a:lnSpc>
            </a:pPr>
            <a:r>
              <a:rPr lang="en-US" sz="5562" spc="11">
                <a:solidFill>
                  <a:srgbClr val="CBCCCE"/>
                </a:solidFill>
                <a:latin typeface="Times New Roman MT Condensed"/>
                <a:ea typeface="Times New Roman MT Condensed"/>
                <a:cs typeface="Times New Roman MT Condensed"/>
                <a:sym typeface="Times New Roman MT Condensed"/>
              </a:rPr>
              <a:t>Kyber &amp; Dilithium</a:t>
            </a:r>
          </a:p>
          <a:p>
            <a:pPr algn="l">
              <a:lnSpc>
                <a:spcPts val="7204"/>
              </a:lnSpc>
            </a:pPr>
            <a:r>
              <a:rPr lang="en-US" sz="4812" spc="9">
                <a:solidFill>
                  <a:srgbClr val="CBCCCE"/>
                </a:solidFill>
                <a:latin typeface="Times New Roman MT Condensed"/>
                <a:ea typeface="Times New Roman MT Condensed"/>
                <a:cs typeface="Times New Roman MT Condensed"/>
                <a:sym typeface="Times New Roman MT Condensed"/>
              </a:rPr>
              <a:t>Post-Quantum Cryptography</a:t>
            </a:r>
          </a:p>
          <a:p>
            <a:pPr algn="l">
              <a:lnSpc>
                <a:spcPts val="8327"/>
              </a:lnSpc>
            </a:pPr>
            <a:endParaRPr lang="en-US" sz="4812" spc="9">
              <a:solidFill>
                <a:srgbClr val="CBCCCE"/>
              </a:solidFill>
              <a:latin typeface="Times New Roman MT Condensed"/>
              <a:ea typeface="Times New Roman MT Condensed"/>
              <a:cs typeface="Times New Roman MT Condensed"/>
              <a:sym typeface="Times New Roman MT Condense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sp>
      <p:sp>
        <p:nvSpPr>
          <p:cNvPr id="4" name="Freeform 4"/>
          <p:cNvSpPr/>
          <p:nvPr/>
        </p:nvSpPr>
        <p:spPr>
          <a:xfrm>
            <a:off x="-479583" y="-496090"/>
            <a:ext cx="19182651" cy="10862463"/>
          </a:xfrm>
          <a:custGeom>
            <a:avLst/>
            <a:gdLst/>
            <a:ahLst/>
            <a:cxnLst/>
            <a:rect l="l" t="t" r="r" b="b"/>
            <a:pathLst>
              <a:path w="19182651" h="10862463">
                <a:moveTo>
                  <a:pt x="0" y="0"/>
                </a:moveTo>
                <a:lnTo>
                  <a:pt x="19182651" y="0"/>
                </a:lnTo>
                <a:lnTo>
                  <a:pt x="19182651" y="10862463"/>
                </a:lnTo>
                <a:lnTo>
                  <a:pt x="0" y="10862463"/>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5" name="Freeform 5"/>
          <p:cNvSpPr/>
          <p:nvPr/>
        </p:nvSpPr>
        <p:spPr>
          <a:xfrm>
            <a:off x="17125646" y="-170390"/>
            <a:ext cx="6858000" cy="10287000"/>
          </a:xfrm>
          <a:custGeom>
            <a:avLst/>
            <a:gdLst/>
            <a:ahLst/>
            <a:cxnLst/>
            <a:rect l="l" t="t" r="r" b="b"/>
            <a:pathLst>
              <a:path w="6858000" h="10287000">
                <a:moveTo>
                  <a:pt x="0" y="0"/>
                </a:moveTo>
                <a:lnTo>
                  <a:pt x="6858000" y="0"/>
                </a:lnTo>
                <a:lnTo>
                  <a:pt x="6858000" y="10287000"/>
                </a:lnTo>
                <a:lnTo>
                  <a:pt x="0" y="10287000"/>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6" name="Freeform 6"/>
          <p:cNvSpPr/>
          <p:nvPr/>
        </p:nvSpPr>
        <p:spPr>
          <a:xfrm>
            <a:off x="656828" y="912184"/>
            <a:ext cx="9604272" cy="1788414"/>
          </a:xfrm>
          <a:custGeom>
            <a:avLst/>
            <a:gdLst/>
            <a:ahLst/>
            <a:cxnLst/>
            <a:rect l="l" t="t" r="r" b="b"/>
            <a:pathLst>
              <a:path w="9604272" h="1788414">
                <a:moveTo>
                  <a:pt x="0" y="0"/>
                </a:moveTo>
                <a:lnTo>
                  <a:pt x="9604272" y="0"/>
                </a:lnTo>
                <a:lnTo>
                  <a:pt x="9604272" y="1788414"/>
                </a:lnTo>
                <a:lnTo>
                  <a:pt x="0" y="1788414"/>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7" name="Freeform 7"/>
          <p:cNvSpPr/>
          <p:nvPr/>
        </p:nvSpPr>
        <p:spPr>
          <a:xfrm>
            <a:off x="1033863" y="3142117"/>
            <a:ext cx="9147870" cy="1587698"/>
          </a:xfrm>
          <a:custGeom>
            <a:avLst/>
            <a:gdLst/>
            <a:ahLst/>
            <a:cxnLst/>
            <a:rect l="l" t="t" r="r" b="b"/>
            <a:pathLst>
              <a:path w="9147870" h="1587698">
                <a:moveTo>
                  <a:pt x="0" y="0"/>
                </a:moveTo>
                <a:lnTo>
                  <a:pt x="9147870" y="0"/>
                </a:lnTo>
                <a:lnTo>
                  <a:pt x="9147870" y="1587699"/>
                </a:lnTo>
                <a:lnTo>
                  <a:pt x="0" y="1587699"/>
                </a:lnTo>
                <a:lnTo>
                  <a:pt x="0" y="0"/>
                </a:lnTo>
                <a:close/>
              </a:path>
            </a:pathLst>
          </a:custGeom>
          <a:blipFill>
            <a:blip>
              <a:extLst>
                <a:ext uri="{96DAC541-7B7A-43D3-8B79-37D633B846F1}">
                  <asvg:svgBlip xmlns:asvg="http://schemas.microsoft.com/office/drawing/2016/SVG/main" r:embed="rId7"/>
                </a:ext>
              </a:extLst>
            </a:blip>
            <a:stretch>
              <a:fillRect/>
            </a:stretch>
          </a:blipFill>
        </p:spPr>
      </p:sp>
      <p:sp>
        <p:nvSpPr>
          <p:cNvPr id="8" name="Freeform 8"/>
          <p:cNvSpPr/>
          <p:nvPr/>
        </p:nvSpPr>
        <p:spPr>
          <a:xfrm>
            <a:off x="10042587" y="-2536"/>
            <a:ext cx="8245413" cy="10289536"/>
          </a:xfrm>
          <a:custGeom>
            <a:avLst/>
            <a:gdLst/>
            <a:ahLst/>
            <a:cxnLst/>
            <a:rect l="l" t="t" r="r" b="b"/>
            <a:pathLst>
              <a:path w="8245413" h="10289536">
                <a:moveTo>
                  <a:pt x="0" y="0"/>
                </a:moveTo>
                <a:lnTo>
                  <a:pt x="8245413" y="0"/>
                </a:lnTo>
                <a:lnTo>
                  <a:pt x="8245413" y="10289536"/>
                </a:lnTo>
                <a:lnTo>
                  <a:pt x="0" y="10289536"/>
                </a:lnTo>
                <a:lnTo>
                  <a:pt x="0" y="0"/>
                </a:lnTo>
                <a:close/>
              </a:path>
            </a:pathLst>
          </a:custGeom>
          <a:blipFill>
            <a:blip r:embed="rId8"/>
            <a:stretch>
              <a:fillRect l="-38306" r="-28082"/>
            </a:stretch>
          </a:blipFill>
        </p:spPr>
      </p:sp>
      <p:sp>
        <p:nvSpPr>
          <p:cNvPr id="9" name="TextBox 9"/>
          <p:cNvSpPr txBox="1"/>
          <p:nvPr/>
        </p:nvSpPr>
        <p:spPr>
          <a:xfrm>
            <a:off x="759045" y="2510098"/>
            <a:ext cx="8180159" cy="7343058"/>
          </a:xfrm>
          <a:prstGeom prst="rect">
            <a:avLst/>
          </a:prstGeom>
        </p:spPr>
        <p:txBody>
          <a:bodyPr lIns="0" tIns="0" rIns="0" bIns="0" rtlCol="0" anchor="t">
            <a:spAutoFit/>
          </a:bodyPr>
          <a:lstStyle/>
          <a:p>
            <a:pPr algn="l">
              <a:lnSpc>
                <a:spcPts val="4541"/>
              </a:lnSpc>
            </a:pPr>
            <a:r>
              <a:rPr lang="en-US" sz="2346" spc="4">
                <a:solidFill>
                  <a:srgbClr val="CFD0D8"/>
                </a:solidFill>
                <a:latin typeface="Poppins"/>
                <a:ea typeface="Poppins"/>
                <a:cs typeface="Poppins"/>
                <a:sym typeface="Poppins"/>
              </a:rPr>
              <a:t>Quantum computers threaten current public key systems such as RSA and ECC because Shor algorithm can break them in practical time. Post Quantum Cryptography builds new algorithms that remain secure even if large quantum computers exist.</a:t>
            </a:r>
          </a:p>
          <a:p>
            <a:pPr algn="l">
              <a:lnSpc>
                <a:spcPts val="4541"/>
              </a:lnSpc>
            </a:pPr>
            <a:endParaRPr lang="en-US" sz="2346" spc="4">
              <a:solidFill>
                <a:srgbClr val="CFD0D8"/>
              </a:solidFill>
              <a:latin typeface="Poppins"/>
              <a:ea typeface="Poppins"/>
              <a:cs typeface="Poppins"/>
              <a:sym typeface="Poppins"/>
            </a:endParaRPr>
          </a:p>
          <a:p>
            <a:pPr algn="l">
              <a:lnSpc>
                <a:spcPts val="4541"/>
              </a:lnSpc>
            </a:pPr>
            <a:r>
              <a:rPr lang="en-US" sz="2346" spc="4">
                <a:solidFill>
                  <a:srgbClr val="CFD0D8"/>
                </a:solidFill>
                <a:latin typeface="Poppins"/>
                <a:ea typeface="Poppins"/>
                <a:cs typeface="Poppins"/>
                <a:sym typeface="Poppins"/>
              </a:rPr>
              <a:t>Lattice based cryptography is one of the most trusted approaches. It relies on hard mathematical problems in high dimensional lattices instead of integer factorization. CRYSTALS Dilithium is a lattice based digital signature scheme selected by NIST for standardization</a:t>
            </a:r>
          </a:p>
          <a:p>
            <a:pPr algn="l">
              <a:lnSpc>
                <a:spcPts val="4541"/>
              </a:lnSpc>
            </a:pPr>
            <a:endParaRPr lang="en-US" sz="2346" spc="4">
              <a:solidFill>
                <a:srgbClr val="CFD0D8"/>
              </a:solidFill>
              <a:latin typeface="Poppins"/>
              <a:ea typeface="Poppins"/>
              <a:cs typeface="Poppins"/>
              <a:sym typeface="Poppins"/>
            </a:endParaRPr>
          </a:p>
        </p:txBody>
      </p:sp>
      <p:sp>
        <p:nvSpPr>
          <p:cNvPr id="10" name="TextBox 10"/>
          <p:cNvSpPr txBox="1"/>
          <p:nvPr/>
        </p:nvSpPr>
        <p:spPr>
          <a:xfrm>
            <a:off x="656828" y="521763"/>
            <a:ext cx="8384593" cy="1984185"/>
          </a:xfrm>
          <a:prstGeom prst="rect">
            <a:avLst/>
          </a:prstGeom>
        </p:spPr>
        <p:txBody>
          <a:bodyPr lIns="0" tIns="0" rIns="0" bIns="0" rtlCol="0" anchor="t">
            <a:spAutoFit/>
          </a:bodyPr>
          <a:lstStyle/>
          <a:p>
            <a:pPr algn="l">
              <a:lnSpc>
                <a:spcPts val="7551"/>
              </a:lnSpc>
            </a:pPr>
            <a:r>
              <a:rPr lang="en-US" sz="5499" spc="10">
                <a:solidFill>
                  <a:srgbClr val="D5D5D8"/>
                </a:solidFill>
                <a:latin typeface="Times New Roman MT Condensed"/>
                <a:ea typeface="Times New Roman MT Condensed"/>
                <a:cs typeface="Times New Roman MT Condensed"/>
                <a:sym typeface="Times New Roman MT Condensed"/>
              </a:rPr>
              <a:t>Need For Post-Quantum Cryptography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sp>
      <p:sp>
        <p:nvSpPr>
          <p:cNvPr id="4" name="Freeform 4"/>
          <p:cNvSpPr/>
          <p:nvPr/>
        </p:nvSpPr>
        <p:spPr>
          <a:xfrm>
            <a:off x="-479583" y="-496090"/>
            <a:ext cx="19182651" cy="10862463"/>
          </a:xfrm>
          <a:custGeom>
            <a:avLst/>
            <a:gdLst/>
            <a:ahLst/>
            <a:cxnLst/>
            <a:rect l="l" t="t" r="r" b="b"/>
            <a:pathLst>
              <a:path w="19182651" h="10862463">
                <a:moveTo>
                  <a:pt x="0" y="0"/>
                </a:moveTo>
                <a:lnTo>
                  <a:pt x="19182651" y="0"/>
                </a:lnTo>
                <a:lnTo>
                  <a:pt x="19182651" y="10862463"/>
                </a:lnTo>
                <a:lnTo>
                  <a:pt x="0" y="10862463"/>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5" name="Freeform 5"/>
          <p:cNvSpPr/>
          <p:nvPr/>
        </p:nvSpPr>
        <p:spPr>
          <a:xfrm>
            <a:off x="759243" y="673917"/>
            <a:ext cx="9985143" cy="1859336"/>
          </a:xfrm>
          <a:custGeom>
            <a:avLst/>
            <a:gdLst/>
            <a:ahLst/>
            <a:cxnLst/>
            <a:rect l="l" t="t" r="r" b="b"/>
            <a:pathLst>
              <a:path w="9985143" h="1859336">
                <a:moveTo>
                  <a:pt x="0" y="0"/>
                </a:moveTo>
                <a:lnTo>
                  <a:pt x="9985142" y="0"/>
                </a:lnTo>
                <a:lnTo>
                  <a:pt x="9985142" y="1859336"/>
                </a:lnTo>
                <a:lnTo>
                  <a:pt x="0" y="1859336"/>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6" name="Freeform 6"/>
          <p:cNvSpPr/>
          <p:nvPr/>
        </p:nvSpPr>
        <p:spPr>
          <a:xfrm>
            <a:off x="11386161" y="0"/>
            <a:ext cx="6901839" cy="12355740"/>
          </a:xfrm>
          <a:custGeom>
            <a:avLst/>
            <a:gdLst/>
            <a:ahLst/>
            <a:cxnLst/>
            <a:rect l="l" t="t" r="r" b="b"/>
            <a:pathLst>
              <a:path w="6901839" h="12355740">
                <a:moveTo>
                  <a:pt x="0" y="0"/>
                </a:moveTo>
                <a:lnTo>
                  <a:pt x="6901839" y="0"/>
                </a:lnTo>
                <a:lnTo>
                  <a:pt x="6901839" y="12355740"/>
                </a:lnTo>
                <a:lnTo>
                  <a:pt x="0" y="12355740"/>
                </a:lnTo>
                <a:lnTo>
                  <a:pt x="0" y="0"/>
                </a:lnTo>
                <a:close/>
              </a:path>
            </a:pathLst>
          </a:custGeom>
          <a:blipFill>
            <a:blip r:embed="rId6"/>
            <a:stretch>
              <a:fillRect/>
            </a:stretch>
          </a:blipFill>
        </p:spPr>
      </p:sp>
      <p:sp>
        <p:nvSpPr>
          <p:cNvPr id="7" name="TextBox 7"/>
          <p:cNvSpPr txBox="1"/>
          <p:nvPr/>
        </p:nvSpPr>
        <p:spPr>
          <a:xfrm>
            <a:off x="759243" y="982190"/>
            <a:ext cx="8717096" cy="1042764"/>
          </a:xfrm>
          <a:prstGeom prst="rect">
            <a:avLst/>
          </a:prstGeom>
        </p:spPr>
        <p:txBody>
          <a:bodyPr lIns="0" tIns="0" rIns="0" bIns="0" rtlCol="0" anchor="t">
            <a:spAutoFit/>
          </a:bodyPr>
          <a:lstStyle/>
          <a:p>
            <a:pPr algn="l">
              <a:lnSpc>
                <a:spcPts val="7672"/>
              </a:lnSpc>
            </a:pPr>
            <a:r>
              <a:rPr lang="en-US" sz="5588" spc="11">
                <a:solidFill>
                  <a:srgbClr val="D5D5D8"/>
                </a:solidFill>
                <a:latin typeface="Times New Roman MT Condensed"/>
                <a:ea typeface="Times New Roman MT Condensed"/>
                <a:cs typeface="Times New Roman MT Condensed"/>
                <a:sym typeface="Times New Roman MT Condensed"/>
              </a:rPr>
              <a:t>CRYSTALS  ML-DSA Dilithium</a:t>
            </a:r>
          </a:p>
        </p:txBody>
      </p:sp>
      <p:sp>
        <p:nvSpPr>
          <p:cNvPr id="8" name="TextBox 8"/>
          <p:cNvSpPr txBox="1"/>
          <p:nvPr/>
        </p:nvSpPr>
        <p:spPr>
          <a:xfrm>
            <a:off x="759243" y="2090574"/>
            <a:ext cx="9189386" cy="6485192"/>
          </a:xfrm>
          <a:prstGeom prst="rect">
            <a:avLst/>
          </a:prstGeom>
        </p:spPr>
        <p:txBody>
          <a:bodyPr lIns="0" tIns="0" rIns="0" bIns="0" rtlCol="0" anchor="t">
            <a:spAutoFit/>
          </a:bodyPr>
          <a:lstStyle/>
          <a:p>
            <a:pPr algn="l">
              <a:lnSpc>
                <a:spcPts val="5773"/>
              </a:lnSpc>
            </a:pPr>
            <a:r>
              <a:rPr lang="en-US" sz="2974" spc="5">
                <a:solidFill>
                  <a:srgbClr val="CFD0D8"/>
                </a:solidFill>
                <a:latin typeface="Poppins"/>
                <a:ea typeface="Poppins"/>
                <a:cs typeface="Poppins"/>
                <a:sym typeface="Poppins"/>
              </a:rPr>
              <a:t>Dilithium</a:t>
            </a:r>
          </a:p>
          <a:p>
            <a:pPr marL="642235" lvl="1" indent="-321118" algn="l">
              <a:lnSpc>
                <a:spcPts val="5773"/>
              </a:lnSpc>
              <a:buFont typeface="Arial"/>
              <a:buChar char="•"/>
            </a:pPr>
            <a:r>
              <a:rPr lang="en-US" sz="2974" spc="5">
                <a:solidFill>
                  <a:srgbClr val="CFD0D8"/>
                </a:solidFill>
                <a:latin typeface="Poppins"/>
                <a:ea typeface="Poppins"/>
                <a:cs typeface="Poppins"/>
                <a:sym typeface="Poppins"/>
              </a:rPr>
              <a:t>Purpose is digital signatures and authentication</a:t>
            </a:r>
          </a:p>
          <a:p>
            <a:pPr marL="642235" lvl="1" indent="-321118" algn="l">
              <a:lnSpc>
                <a:spcPts val="5773"/>
              </a:lnSpc>
              <a:buFont typeface="Arial"/>
              <a:buChar char="•"/>
            </a:pPr>
            <a:r>
              <a:rPr lang="en-US" sz="2974" spc="5">
                <a:solidFill>
                  <a:srgbClr val="CFD0D8"/>
                </a:solidFill>
                <a:latin typeface="Poppins"/>
                <a:ea typeface="Poppins"/>
                <a:cs typeface="Poppins"/>
                <a:sym typeface="Poppins"/>
              </a:rPr>
              <a:t>Used to sign messages and verify identity</a:t>
            </a:r>
          </a:p>
          <a:p>
            <a:pPr marL="642235" lvl="1" indent="-321118" algn="l">
              <a:lnSpc>
                <a:spcPts val="5773"/>
              </a:lnSpc>
              <a:buFont typeface="Arial"/>
              <a:buChar char="•"/>
            </a:pPr>
            <a:r>
              <a:rPr lang="en-US" sz="2974" spc="5">
                <a:solidFill>
                  <a:srgbClr val="CFD0D8"/>
                </a:solidFill>
                <a:latin typeface="Poppins"/>
                <a:ea typeface="Poppins"/>
                <a:cs typeface="Poppins"/>
                <a:sym typeface="Poppins"/>
              </a:rPr>
              <a:t>Requires repeated polynomial transforms during signing</a:t>
            </a:r>
          </a:p>
          <a:p>
            <a:pPr marL="642235" lvl="1" indent="-321118" algn="l">
              <a:lnSpc>
                <a:spcPts val="5773"/>
              </a:lnSpc>
              <a:buFont typeface="Arial"/>
              <a:buChar char="•"/>
            </a:pPr>
            <a:r>
              <a:rPr lang="en-US" sz="2974" spc="5">
                <a:solidFill>
                  <a:srgbClr val="CFD0D8"/>
                </a:solidFill>
                <a:latin typeface="Poppins"/>
                <a:ea typeface="Poppins"/>
                <a:cs typeface="Poppins"/>
                <a:sym typeface="Poppins"/>
              </a:rPr>
              <a:t>Focus on strong integrity and non repudiation</a:t>
            </a:r>
          </a:p>
          <a:p>
            <a:pPr algn="l">
              <a:lnSpc>
                <a:spcPts val="5773"/>
              </a:lnSpc>
            </a:pPr>
            <a:endParaRPr lang="en-US" sz="2974" spc="5">
              <a:solidFill>
                <a:srgbClr val="CFD0D8"/>
              </a:solidFill>
              <a:latin typeface="Poppins"/>
              <a:ea typeface="Poppins"/>
              <a:cs typeface="Poppins"/>
              <a:sym typeface="Poppin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sp>
      <p:sp>
        <p:nvSpPr>
          <p:cNvPr id="4" name="Freeform 4"/>
          <p:cNvSpPr/>
          <p:nvPr/>
        </p:nvSpPr>
        <p:spPr>
          <a:xfrm>
            <a:off x="-114988" y="-287732"/>
            <a:ext cx="19182651" cy="10862463"/>
          </a:xfrm>
          <a:custGeom>
            <a:avLst/>
            <a:gdLst/>
            <a:ahLst/>
            <a:cxnLst/>
            <a:rect l="l" t="t" r="r" b="b"/>
            <a:pathLst>
              <a:path w="19182651" h="10862463">
                <a:moveTo>
                  <a:pt x="0" y="0"/>
                </a:moveTo>
                <a:lnTo>
                  <a:pt x="19182652" y="0"/>
                </a:lnTo>
                <a:lnTo>
                  <a:pt x="19182652" y="10862464"/>
                </a:lnTo>
                <a:lnTo>
                  <a:pt x="0" y="10862464"/>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5" name="Freeform 5"/>
          <p:cNvSpPr/>
          <p:nvPr/>
        </p:nvSpPr>
        <p:spPr>
          <a:xfrm>
            <a:off x="17125646" y="-170390"/>
            <a:ext cx="6858000" cy="10287000"/>
          </a:xfrm>
          <a:custGeom>
            <a:avLst/>
            <a:gdLst/>
            <a:ahLst/>
            <a:cxnLst/>
            <a:rect l="l" t="t" r="r" b="b"/>
            <a:pathLst>
              <a:path w="6858000" h="10287000">
                <a:moveTo>
                  <a:pt x="0" y="0"/>
                </a:moveTo>
                <a:lnTo>
                  <a:pt x="6858000" y="0"/>
                </a:lnTo>
                <a:lnTo>
                  <a:pt x="6858000" y="10287000"/>
                </a:lnTo>
                <a:lnTo>
                  <a:pt x="0" y="10287000"/>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6" name="Freeform 6"/>
          <p:cNvSpPr/>
          <p:nvPr/>
        </p:nvSpPr>
        <p:spPr>
          <a:xfrm>
            <a:off x="759243" y="673917"/>
            <a:ext cx="9985143" cy="1859336"/>
          </a:xfrm>
          <a:custGeom>
            <a:avLst/>
            <a:gdLst/>
            <a:ahLst/>
            <a:cxnLst/>
            <a:rect l="l" t="t" r="r" b="b"/>
            <a:pathLst>
              <a:path w="9985143" h="1859336">
                <a:moveTo>
                  <a:pt x="0" y="0"/>
                </a:moveTo>
                <a:lnTo>
                  <a:pt x="9985142" y="0"/>
                </a:lnTo>
                <a:lnTo>
                  <a:pt x="9985142" y="1859336"/>
                </a:lnTo>
                <a:lnTo>
                  <a:pt x="0" y="1859336"/>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7" name="Freeform 7"/>
          <p:cNvSpPr/>
          <p:nvPr/>
        </p:nvSpPr>
        <p:spPr>
          <a:xfrm>
            <a:off x="597075" y="2533253"/>
            <a:ext cx="16662225" cy="5498134"/>
          </a:xfrm>
          <a:custGeom>
            <a:avLst/>
            <a:gdLst/>
            <a:ahLst/>
            <a:cxnLst/>
            <a:rect l="l" t="t" r="r" b="b"/>
            <a:pathLst>
              <a:path w="16662225" h="5498134">
                <a:moveTo>
                  <a:pt x="0" y="0"/>
                </a:moveTo>
                <a:lnTo>
                  <a:pt x="16662225" y="0"/>
                </a:lnTo>
                <a:lnTo>
                  <a:pt x="16662225" y="5498134"/>
                </a:lnTo>
                <a:lnTo>
                  <a:pt x="0" y="5498134"/>
                </a:lnTo>
                <a:lnTo>
                  <a:pt x="0" y="0"/>
                </a:lnTo>
                <a:close/>
              </a:path>
            </a:pathLst>
          </a:custGeom>
          <a:blipFill>
            <a:blip r:embed="rId7"/>
            <a:stretch>
              <a:fillRect t="-203050" r="-106717"/>
            </a:stretch>
          </a:blipFill>
        </p:spPr>
      </p:sp>
      <p:sp>
        <p:nvSpPr>
          <p:cNvPr id="8" name="TextBox 8"/>
          <p:cNvSpPr txBox="1"/>
          <p:nvPr/>
        </p:nvSpPr>
        <p:spPr>
          <a:xfrm>
            <a:off x="759243" y="374865"/>
            <a:ext cx="8717096" cy="1042764"/>
          </a:xfrm>
          <a:prstGeom prst="rect">
            <a:avLst/>
          </a:prstGeom>
        </p:spPr>
        <p:txBody>
          <a:bodyPr lIns="0" tIns="0" rIns="0" bIns="0" rtlCol="0" anchor="t">
            <a:spAutoFit/>
          </a:bodyPr>
          <a:lstStyle/>
          <a:p>
            <a:pPr algn="l">
              <a:lnSpc>
                <a:spcPts val="7672"/>
              </a:lnSpc>
            </a:pPr>
            <a:r>
              <a:rPr lang="en-US" sz="5588" spc="11">
                <a:solidFill>
                  <a:srgbClr val="D5D5D8"/>
                </a:solidFill>
                <a:latin typeface="Times New Roman MT Condensed"/>
                <a:ea typeface="Times New Roman MT Condensed"/>
                <a:cs typeface="Times New Roman MT Condensed"/>
                <a:sym typeface="Times New Roman MT Condensed"/>
              </a:rPr>
              <a:t>Output &amp; Deliverables</a:t>
            </a:r>
          </a:p>
        </p:txBody>
      </p:sp>
      <p:sp>
        <p:nvSpPr>
          <p:cNvPr id="9" name="TextBox 9"/>
          <p:cNvSpPr txBox="1"/>
          <p:nvPr/>
        </p:nvSpPr>
        <p:spPr>
          <a:xfrm>
            <a:off x="1226497" y="8236537"/>
            <a:ext cx="17037690" cy="1021763"/>
          </a:xfrm>
          <a:prstGeom prst="rect">
            <a:avLst/>
          </a:prstGeom>
        </p:spPr>
        <p:txBody>
          <a:bodyPr lIns="0" tIns="0" rIns="0" bIns="0" rtlCol="0" anchor="t">
            <a:spAutoFit/>
          </a:bodyPr>
          <a:lstStyle/>
          <a:p>
            <a:pPr algn="l">
              <a:lnSpc>
                <a:spcPts val="8235"/>
              </a:lnSpc>
            </a:pPr>
            <a:r>
              <a:rPr lang="en-US" sz="4242" spc="8">
                <a:solidFill>
                  <a:srgbClr val="CFD0D8"/>
                </a:solidFill>
                <a:latin typeface="Times New Roman MT Condensed"/>
                <a:ea typeface="Times New Roman MT Condensed"/>
                <a:cs typeface="Times New Roman MT Condensed"/>
                <a:sym typeface="Times New Roman MT Condensed"/>
              </a:rPr>
              <a:t>Key Generation, Signing and Verification Time Statistics Of Dilithium in PYNQ Z2</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sp>
      <p:sp>
        <p:nvSpPr>
          <p:cNvPr id="4" name="Freeform 4"/>
          <p:cNvSpPr/>
          <p:nvPr/>
        </p:nvSpPr>
        <p:spPr>
          <a:xfrm>
            <a:off x="-479583" y="-496090"/>
            <a:ext cx="19182651" cy="10862463"/>
          </a:xfrm>
          <a:custGeom>
            <a:avLst/>
            <a:gdLst/>
            <a:ahLst/>
            <a:cxnLst/>
            <a:rect l="l" t="t" r="r" b="b"/>
            <a:pathLst>
              <a:path w="19182651" h="10862463">
                <a:moveTo>
                  <a:pt x="0" y="0"/>
                </a:moveTo>
                <a:lnTo>
                  <a:pt x="19182651" y="0"/>
                </a:lnTo>
                <a:lnTo>
                  <a:pt x="19182651" y="10862463"/>
                </a:lnTo>
                <a:lnTo>
                  <a:pt x="0" y="10862463"/>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5" name="Freeform 5"/>
          <p:cNvSpPr/>
          <p:nvPr/>
        </p:nvSpPr>
        <p:spPr>
          <a:xfrm>
            <a:off x="17125646" y="-170390"/>
            <a:ext cx="6858000" cy="10287000"/>
          </a:xfrm>
          <a:custGeom>
            <a:avLst/>
            <a:gdLst/>
            <a:ahLst/>
            <a:cxnLst/>
            <a:rect l="l" t="t" r="r" b="b"/>
            <a:pathLst>
              <a:path w="6858000" h="10287000">
                <a:moveTo>
                  <a:pt x="0" y="0"/>
                </a:moveTo>
                <a:lnTo>
                  <a:pt x="6858000" y="0"/>
                </a:lnTo>
                <a:lnTo>
                  <a:pt x="6858000" y="10287000"/>
                </a:lnTo>
                <a:lnTo>
                  <a:pt x="0" y="10287000"/>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6" name="Freeform 6"/>
          <p:cNvSpPr/>
          <p:nvPr/>
        </p:nvSpPr>
        <p:spPr>
          <a:xfrm>
            <a:off x="759243" y="673917"/>
            <a:ext cx="9985143" cy="1859336"/>
          </a:xfrm>
          <a:custGeom>
            <a:avLst/>
            <a:gdLst/>
            <a:ahLst/>
            <a:cxnLst/>
            <a:rect l="l" t="t" r="r" b="b"/>
            <a:pathLst>
              <a:path w="9985143" h="1859336">
                <a:moveTo>
                  <a:pt x="0" y="0"/>
                </a:moveTo>
                <a:lnTo>
                  <a:pt x="9985142" y="0"/>
                </a:lnTo>
                <a:lnTo>
                  <a:pt x="9985142" y="1859336"/>
                </a:lnTo>
                <a:lnTo>
                  <a:pt x="0" y="1859336"/>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7" name="Freeform 7"/>
          <p:cNvSpPr/>
          <p:nvPr/>
        </p:nvSpPr>
        <p:spPr>
          <a:xfrm>
            <a:off x="3803327" y="3345992"/>
            <a:ext cx="10681347" cy="3595016"/>
          </a:xfrm>
          <a:custGeom>
            <a:avLst/>
            <a:gdLst/>
            <a:ahLst/>
            <a:cxnLst/>
            <a:rect l="l" t="t" r="r" b="b"/>
            <a:pathLst>
              <a:path w="10681347" h="3595016">
                <a:moveTo>
                  <a:pt x="0" y="0"/>
                </a:moveTo>
                <a:lnTo>
                  <a:pt x="10681346" y="0"/>
                </a:lnTo>
                <a:lnTo>
                  <a:pt x="10681346" y="3595016"/>
                </a:lnTo>
                <a:lnTo>
                  <a:pt x="0" y="3595016"/>
                </a:lnTo>
                <a:lnTo>
                  <a:pt x="0" y="0"/>
                </a:lnTo>
                <a:close/>
              </a:path>
            </a:pathLst>
          </a:custGeom>
          <a:blipFill>
            <a:blip r:embed="rId7"/>
            <a:stretch>
              <a:fillRect/>
            </a:stretch>
          </a:blipFill>
        </p:spPr>
      </p:sp>
      <p:sp>
        <p:nvSpPr>
          <p:cNvPr id="8" name="Freeform 8"/>
          <p:cNvSpPr/>
          <p:nvPr/>
        </p:nvSpPr>
        <p:spPr>
          <a:xfrm>
            <a:off x="2624595" y="2272302"/>
            <a:ext cx="13038811" cy="5742395"/>
          </a:xfrm>
          <a:custGeom>
            <a:avLst/>
            <a:gdLst/>
            <a:ahLst/>
            <a:cxnLst/>
            <a:rect l="l" t="t" r="r" b="b"/>
            <a:pathLst>
              <a:path w="13038811" h="5742395">
                <a:moveTo>
                  <a:pt x="0" y="0"/>
                </a:moveTo>
                <a:lnTo>
                  <a:pt x="13038810" y="0"/>
                </a:lnTo>
                <a:lnTo>
                  <a:pt x="13038810" y="5742396"/>
                </a:lnTo>
                <a:lnTo>
                  <a:pt x="0" y="5742396"/>
                </a:lnTo>
                <a:lnTo>
                  <a:pt x="0" y="0"/>
                </a:lnTo>
                <a:close/>
              </a:path>
            </a:pathLst>
          </a:custGeom>
          <a:blipFill>
            <a:blip r:embed="rId8"/>
            <a:stretch>
              <a:fillRect/>
            </a:stretch>
          </a:blipFill>
        </p:spPr>
      </p:sp>
      <p:sp>
        <p:nvSpPr>
          <p:cNvPr id="9" name="TextBox 9"/>
          <p:cNvSpPr txBox="1"/>
          <p:nvPr/>
        </p:nvSpPr>
        <p:spPr>
          <a:xfrm>
            <a:off x="759243" y="374865"/>
            <a:ext cx="8717096" cy="1042764"/>
          </a:xfrm>
          <a:prstGeom prst="rect">
            <a:avLst/>
          </a:prstGeom>
        </p:spPr>
        <p:txBody>
          <a:bodyPr lIns="0" tIns="0" rIns="0" bIns="0" rtlCol="0" anchor="t">
            <a:spAutoFit/>
          </a:bodyPr>
          <a:lstStyle/>
          <a:p>
            <a:pPr algn="l">
              <a:lnSpc>
                <a:spcPts val="7672"/>
              </a:lnSpc>
            </a:pPr>
            <a:r>
              <a:rPr lang="en-US" sz="5588" spc="11">
                <a:solidFill>
                  <a:srgbClr val="D5D5D8"/>
                </a:solidFill>
                <a:latin typeface="Times New Roman MT Condensed"/>
                <a:ea typeface="Times New Roman MT Condensed"/>
                <a:cs typeface="Times New Roman MT Condensed"/>
                <a:sym typeface="Times New Roman MT Condensed"/>
              </a:rPr>
              <a:t>Output &amp; Deliverables</a:t>
            </a:r>
          </a:p>
        </p:txBody>
      </p:sp>
      <p:sp>
        <p:nvSpPr>
          <p:cNvPr id="10" name="TextBox 10"/>
          <p:cNvSpPr txBox="1"/>
          <p:nvPr/>
        </p:nvSpPr>
        <p:spPr>
          <a:xfrm>
            <a:off x="3201166" y="8236537"/>
            <a:ext cx="12994130" cy="1021763"/>
          </a:xfrm>
          <a:prstGeom prst="rect">
            <a:avLst/>
          </a:prstGeom>
        </p:spPr>
        <p:txBody>
          <a:bodyPr lIns="0" tIns="0" rIns="0" bIns="0" rtlCol="0" anchor="t">
            <a:spAutoFit/>
          </a:bodyPr>
          <a:lstStyle/>
          <a:p>
            <a:pPr algn="l">
              <a:lnSpc>
                <a:spcPts val="8235"/>
              </a:lnSpc>
            </a:pPr>
            <a:r>
              <a:rPr lang="en-US" sz="4242" spc="8">
                <a:solidFill>
                  <a:srgbClr val="CFD0D8"/>
                </a:solidFill>
                <a:latin typeface="Times New Roman MT Condensed"/>
                <a:ea typeface="Times New Roman MT Condensed"/>
                <a:cs typeface="Times New Roman MT Condensed"/>
                <a:sym typeface="Times New Roman MT Condensed"/>
              </a:rPr>
              <a:t>IP Block Diagram of NTT Engine Of Dilithium in PYNQ Z2</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sp>
      <p:sp>
        <p:nvSpPr>
          <p:cNvPr id="4" name="Freeform 4"/>
          <p:cNvSpPr/>
          <p:nvPr/>
        </p:nvSpPr>
        <p:spPr>
          <a:xfrm>
            <a:off x="-479583" y="-496090"/>
            <a:ext cx="19182651" cy="10862463"/>
          </a:xfrm>
          <a:custGeom>
            <a:avLst/>
            <a:gdLst/>
            <a:ahLst/>
            <a:cxnLst/>
            <a:rect l="l" t="t" r="r" b="b"/>
            <a:pathLst>
              <a:path w="19182651" h="10862463">
                <a:moveTo>
                  <a:pt x="0" y="0"/>
                </a:moveTo>
                <a:lnTo>
                  <a:pt x="19182651" y="0"/>
                </a:lnTo>
                <a:lnTo>
                  <a:pt x="19182651" y="10862463"/>
                </a:lnTo>
                <a:lnTo>
                  <a:pt x="0" y="10862463"/>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5" name="Freeform 5"/>
          <p:cNvSpPr/>
          <p:nvPr/>
        </p:nvSpPr>
        <p:spPr>
          <a:xfrm>
            <a:off x="17125646" y="-170390"/>
            <a:ext cx="6858000" cy="10287000"/>
          </a:xfrm>
          <a:custGeom>
            <a:avLst/>
            <a:gdLst/>
            <a:ahLst/>
            <a:cxnLst/>
            <a:rect l="l" t="t" r="r" b="b"/>
            <a:pathLst>
              <a:path w="6858000" h="10287000">
                <a:moveTo>
                  <a:pt x="0" y="0"/>
                </a:moveTo>
                <a:lnTo>
                  <a:pt x="6858000" y="0"/>
                </a:lnTo>
                <a:lnTo>
                  <a:pt x="6858000" y="10287000"/>
                </a:lnTo>
                <a:lnTo>
                  <a:pt x="0" y="10287000"/>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6" name="Freeform 6"/>
          <p:cNvSpPr/>
          <p:nvPr/>
        </p:nvSpPr>
        <p:spPr>
          <a:xfrm>
            <a:off x="759243" y="673917"/>
            <a:ext cx="9985143" cy="1859336"/>
          </a:xfrm>
          <a:custGeom>
            <a:avLst/>
            <a:gdLst/>
            <a:ahLst/>
            <a:cxnLst/>
            <a:rect l="l" t="t" r="r" b="b"/>
            <a:pathLst>
              <a:path w="9985143" h="1859336">
                <a:moveTo>
                  <a:pt x="0" y="0"/>
                </a:moveTo>
                <a:lnTo>
                  <a:pt x="9985142" y="0"/>
                </a:lnTo>
                <a:lnTo>
                  <a:pt x="9985142" y="1859336"/>
                </a:lnTo>
                <a:lnTo>
                  <a:pt x="0" y="1859336"/>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7" name="Freeform 7"/>
          <p:cNvSpPr/>
          <p:nvPr/>
        </p:nvSpPr>
        <p:spPr>
          <a:xfrm>
            <a:off x="1253764" y="2266930"/>
            <a:ext cx="14333950" cy="4824372"/>
          </a:xfrm>
          <a:custGeom>
            <a:avLst/>
            <a:gdLst/>
            <a:ahLst/>
            <a:cxnLst/>
            <a:rect l="l" t="t" r="r" b="b"/>
            <a:pathLst>
              <a:path w="14333950" h="4824372">
                <a:moveTo>
                  <a:pt x="0" y="0"/>
                </a:moveTo>
                <a:lnTo>
                  <a:pt x="14333950" y="0"/>
                </a:lnTo>
                <a:lnTo>
                  <a:pt x="14333950" y="4824372"/>
                </a:lnTo>
                <a:lnTo>
                  <a:pt x="0" y="4824372"/>
                </a:lnTo>
                <a:lnTo>
                  <a:pt x="0" y="0"/>
                </a:lnTo>
                <a:close/>
              </a:path>
            </a:pathLst>
          </a:custGeom>
          <a:blipFill>
            <a:blip r:embed="rId7"/>
            <a:stretch>
              <a:fillRect/>
            </a:stretch>
          </a:blipFill>
        </p:spPr>
      </p:sp>
      <p:sp>
        <p:nvSpPr>
          <p:cNvPr id="8" name="TextBox 8"/>
          <p:cNvSpPr txBox="1"/>
          <p:nvPr/>
        </p:nvSpPr>
        <p:spPr>
          <a:xfrm>
            <a:off x="759243" y="374865"/>
            <a:ext cx="8717096" cy="1042764"/>
          </a:xfrm>
          <a:prstGeom prst="rect">
            <a:avLst/>
          </a:prstGeom>
        </p:spPr>
        <p:txBody>
          <a:bodyPr lIns="0" tIns="0" rIns="0" bIns="0" rtlCol="0" anchor="t">
            <a:spAutoFit/>
          </a:bodyPr>
          <a:lstStyle/>
          <a:p>
            <a:pPr algn="l">
              <a:lnSpc>
                <a:spcPts val="7672"/>
              </a:lnSpc>
            </a:pPr>
            <a:r>
              <a:rPr lang="en-US" sz="5588" spc="11">
                <a:solidFill>
                  <a:srgbClr val="D5D5D8"/>
                </a:solidFill>
                <a:latin typeface="Times New Roman MT Condensed"/>
                <a:ea typeface="Times New Roman MT Condensed"/>
                <a:cs typeface="Times New Roman MT Condensed"/>
                <a:sym typeface="Times New Roman MT Condensed"/>
              </a:rPr>
              <a:t>Output &amp; Deliverables</a:t>
            </a:r>
          </a:p>
        </p:txBody>
      </p:sp>
      <p:sp>
        <p:nvSpPr>
          <p:cNvPr id="9" name="TextBox 9"/>
          <p:cNvSpPr txBox="1"/>
          <p:nvPr/>
        </p:nvSpPr>
        <p:spPr>
          <a:xfrm>
            <a:off x="3296645" y="7555645"/>
            <a:ext cx="10901823" cy="1021763"/>
          </a:xfrm>
          <a:prstGeom prst="rect">
            <a:avLst/>
          </a:prstGeom>
        </p:spPr>
        <p:txBody>
          <a:bodyPr lIns="0" tIns="0" rIns="0" bIns="0" rtlCol="0" anchor="t">
            <a:spAutoFit/>
          </a:bodyPr>
          <a:lstStyle/>
          <a:p>
            <a:pPr algn="l">
              <a:lnSpc>
                <a:spcPts val="8235"/>
              </a:lnSpc>
            </a:pPr>
            <a:r>
              <a:rPr lang="en-US" sz="4242" spc="8">
                <a:solidFill>
                  <a:srgbClr val="CFD0D8"/>
                </a:solidFill>
                <a:latin typeface="Times New Roman MT Condensed"/>
                <a:ea typeface="Times New Roman MT Condensed"/>
                <a:cs typeface="Times New Roman MT Condensed"/>
                <a:sym typeface="Times New Roman MT Condensed"/>
              </a:rPr>
              <a:t>NTT Successful Completion and Time Taken  is 4.5ms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sp>
      <p:sp>
        <p:nvSpPr>
          <p:cNvPr id="4" name="Freeform 4"/>
          <p:cNvSpPr/>
          <p:nvPr/>
        </p:nvSpPr>
        <p:spPr>
          <a:xfrm>
            <a:off x="-479583" y="-496090"/>
            <a:ext cx="19182651" cy="10862463"/>
          </a:xfrm>
          <a:custGeom>
            <a:avLst/>
            <a:gdLst/>
            <a:ahLst/>
            <a:cxnLst/>
            <a:rect l="l" t="t" r="r" b="b"/>
            <a:pathLst>
              <a:path w="19182651" h="10862463">
                <a:moveTo>
                  <a:pt x="0" y="0"/>
                </a:moveTo>
                <a:lnTo>
                  <a:pt x="19182651" y="0"/>
                </a:lnTo>
                <a:lnTo>
                  <a:pt x="19182651" y="10862463"/>
                </a:lnTo>
                <a:lnTo>
                  <a:pt x="0" y="10862463"/>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5" name="Freeform 5"/>
          <p:cNvSpPr/>
          <p:nvPr/>
        </p:nvSpPr>
        <p:spPr>
          <a:xfrm>
            <a:off x="759243" y="673917"/>
            <a:ext cx="9985143" cy="1859336"/>
          </a:xfrm>
          <a:custGeom>
            <a:avLst/>
            <a:gdLst/>
            <a:ahLst/>
            <a:cxnLst/>
            <a:rect l="l" t="t" r="r" b="b"/>
            <a:pathLst>
              <a:path w="9985143" h="1859336">
                <a:moveTo>
                  <a:pt x="0" y="0"/>
                </a:moveTo>
                <a:lnTo>
                  <a:pt x="9985142" y="0"/>
                </a:lnTo>
                <a:lnTo>
                  <a:pt x="9985142" y="1859336"/>
                </a:lnTo>
                <a:lnTo>
                  <a:pt x="0" y="1859336"/>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6" name="Freeform 6"/>
          <p:cNvSpPr/>
          <p:nvPr/>
        </p:nvSpPr>
        <p:spPr>
          <a:xfrm>
            <a:off x="9961232" y="-249721"/>
            <a:ext cx="8326768" cy="10504281"/>
          </a:xfrm>
          <a:custGeom>
            <a:avLst/>
            <a:gdLst/>
            <a:ahLst/>
            <a:cxnLst/>
            <a:rect l="l" t="t" r="r" b="b"/>
            <a:pathLst>
              <a:path w="8326768" h="10504281">
                <a:moveTo>
                  <a:pt x="0" y="0"/>
                </a:moveTo>
                <a:lnTo>
                  <a:pt x="8326768" y="0"/>
                </a:lnTo>
                <a:lnTo>
                  <a:pt x="8326768" y="10504280"/>
                </a:lnTo>
                <a:lnTo>
                  <a:pt x="0" y="10504280"/>
                </a:lnTo>
                <a:lnTo>
                  <a:pt x="0" y="0"/>
                </a:lnTo>
                <a:close/>
              </a:path>
            </a:pathLst>
          </a:custGeom>
          <a:blipFill>
            <a:blip r:embed="rId6"/>
            <a:stretch>
              <a:fillRect t="-32077" b="-9793"/>
            </a:stretch>
          </a:blipFill>
        </p:spPr>
      </p:sp>
      <p:sp>
        <p:nvSpPr>
          <p:cNvPr id="7" name="TextBox 7"/>
          <p:cNvSpPr txBox="1"/>
          <p:nvPr/>
        </p:nvSpPr>
        <p:spPr>
          <a:xfrm>
            <a:off x="759243" y="781021"/>
            <a:ext cx="8717096" cy="1042764"/>
          </a:xfrm>
          <a:prstGeom prst="rect">
            <a:avLst/>
          </a:prstGeom>
        </p:spPr>
        <p:txBody>
          <a:bodyPr lIns="0" tIns="0" rIns="0" bIns="0" rtlCol="0" anchor="t">
            <a:spAutoFit/>
          </a:bodyPr>
          <a:lstStyle/>
          <a:p>
            <a:pPr algn="l">
              <a:lnSpc>
                <a:spcPts val="7672"/>
              </a:lnSpc>
            </a:pPr>
            <a:r>
              <a:rPr lang="en-US" sz="5588" spc="11">
                <a:solidFill>
                  <a:srgbClr val="D5D5D8"/>
                </a:solidFill>
                <a:latin typeface="Times New Roman MT Condensed"/>
                <a:ea typeface="Times New Roman MT Condensed"/>
                <a:cs typeface="Times New Roman MT Condensed"/>
                <a:sym typeface="Times New Roman MT Condensed"/>
              </a:rPr>
              <a:t>CRYSTALS  ML-KEM Kyber 512</a:t>
            </a:r>
          </a:p>
        </p:txBody>
      </p:sp>
      <p:sp>
        <p:nvSpPr>
          <p:cNvPr id="8" name="TextBox 8"/>
          <p:cNvSpPr txBox="1"/>
          <p:nvPr/>
        </p:nvSpPr>
        <p:spPr>
          <a:xfrm>
            <a:off x="791500" y="2142277"/>
            <a:ext cx="8352500" cy="6520005"/>
          </a:xfrm>
          <a:prstGeom prst="rect">
            <a:avLst/>
          </a:prstGeom>
        </p:spPr>
        <p:txBody>
          <a:bodyPr lIns="0" tIns="0" rIns="0" bIns="0" rtlCol="0" anchor="t">
            <a:spAutoFit/>
          </a:bodyPr>
          <a:lstStyle/>
          <a:p>
            <a:pPr algn="l">
              <a:lnSpc>
                <a:spcPts val="5781"/>
              </a:lnSpc>
            </a:pPr>
            <a:endParaRPr/>
          </a:p>
          <a:p>
            <a:pPr marL="643116" lvl="1" indent="-321558" algn="l">
              <a:lnSpc>
                <a:spcPts val="5781"/>
              </a:lnSpc>
              <a:buFont typeface="Arial"/>
              <a:buChar char="•"/>
            </a:pPr>
            <a:r>
              <a:rPr lang="en-US" sz="2978" spc="5">
                <a:solidFill>
                  <a:srgbClr val="CFD0D8"/>
                </a:solidFill>
                <a:latin typeface="Poppins"/>
                <a:ea typeface="Poppins"/>
                <a:cs typeface="Poppins"/>
                <a:sym typeface="Poppins"/>
              </a:rPr>
              <a:t>Purpose is key encapsulation and key exchange</a:t>
            </a:r>
          </a:p>
          <a:p>
            <a:pPr marL="643116" lvl="1" indent="-321558" algn="l">
              <a:lnSpc>
                <a:spcPts val="5781"/>
              </a:lnSpc>
              <a:buFont typeface="Arial"/>
              <a:buChar char="•"/>
            </a:pPr>
            <a:r>
              <a:rPr lang="en-US" sz="2978" spc="5">
                <a:solidFill>
                  <a:srgbClr val="CFD0D8"/>
                </a:solidFill>
                <a:latin typeface="Poppins"/>
                <a:ea typeface="Poppins"/>
                <a:cs typeface="Poppins"/>
                <a:sym typeface="Poppins"/>
              </a:rPr>
              <a:t>Used to establish shared secret keys</a:t>
            </a:r>
          </a:p>
          <a:p>
            <a:pPr marL="643116" lvl="1" indent="-321558" algn="l">
              <a:lnSpc>
                <a:spcPts val="5781"/>
              </a:lnSpc>
              <a:buFont typeface="Arial"/>
              <a:buChar char="•"/>
            </a:pPr>
            <a:r>
              <a:rPr lang="en-US" sz="2978" spc="5">
                <a:solidFill>
                  <a:srgbClr val="CFD0D8"/>
                </a:solidFill>
                <a:latin typeface="Poppins"/>
                <a:ea typeface="Poppins"/>
                <a:cs typeface="Poppins"/>
                <a:sym typeface="Poppins"/>
              </a:rPr>
              <a:t>Optimized for encryption style operations</a:t>
            </a:r>
          </a:p>
          <a:p>
            <a:pPr marL="643116" lvl="1" indent="-321558" algn="l">
              <a:lnSpc>
                <a:spcPts val="5781"/>
              </a:lnSpc>
              <a:buFont typeface="Arial"/>
              <a:buChar char="•"/>
            </a:pPr>
            <a:r>
              <a:rPr lang="en-US" sz="2978" spc="5">
                <a:solidFill>
                  <a:srgbClr val="CFD0D8"/>
                </a:solidFill>
                <a:latin typeface="Poppins"/>
                <a:ea typeface="Poppins"/>
                <a:cs typeface="Poppins"/>
                <a:sym typeface="Poppins"/>
              </a:rPr>
              <a:t>Smaller ciphertext and faster decapsulation</a:t>
            </a:r>
          </a:p>
          <a:p>
            <a:pPr algn="l">
              <a:lnSpc>
                <a:spcPts val="5781"/>
              </a:lnSpc>
            </a:pPr>
            <a:endParaRPr lang="en-US" sz="2978" spc="5">
              <a:solidFill>
                <a:srgbClr val="CFD0D8"/>
              </a:solidFill>
              <a:latin typeface="Poppins"/>
              <a:ea typeface="Poppins"/>
              <a:cs typeface="Poppins"/>
              <a:sym typeface="Poppin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sp>
      <p:sp>
        <p:nvSpPr>
          <p:cNvPr id="4" name="Freeform 4"/>
          <p:cNvSpPr/>
          <p:nvPr/>
        </p:nvSpPr>
        <p:spPr>
          <a:xfrm>
            <a:off x="-479583" y="-496090"/>
            <a:ext cx="19182651" cy="10862463"/>
          </a:xfrm>
          <a:custGeom>
            <a:avLst/>
            <a:gdLst/>
            <a:ahLst/>
            <a:cxnLst/>
            <a:rect l="l" t="t" r="r" b="b"/>
            <a:pathLst>
              <a:path w="19182651" h="10862463">
                <a:moveTo>
                  <a:pt x="0" y="0"/>
                </a:moveTo>
                <a:lnTo>
                  <a:pt x="19182651" y="0"/>
                </a:lnTo>
                <a:lnTo>
                  <a:pt x="19182651" y="10862463"/>
                </a:lnTo>
                <a:lnTo>
                  <a:pt x="0" y="10862463"/>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5" name="Freeform 5"/>
          <p:cNvSpPr/>
          <p:nvPr/>
        </p:nvSpPr>
        <p:spPr>
          <a:xfrm>
            <a:off x="17125646" y="-170390"/>
            <a:ext cx="6858000" cy="10287000"/>
          </a:xfrm>
          <a:custGeom>
            <a:avLst/>
            <a:gdLst/>
            <a:ahLst/>
            <a:cxnLst/>
            <a:rect l="l" t="t" r="r" b="b"/>
            <a:pathLst>
              <a:path w="6858000" h="10287000">
                <a:moveTo>
                  <a:pt x="0" y="0"/>
                </a:moveTo>
                <a:lnTo>
                  <a:pt x="6858000" y="0"/>
                </a:lnTo>
                <a:lnTo>
                  <a:pt x="6858000" y="10287000"/>
                </a:lnTo>
                <a:lnTo>
                  <a:pt x="0" y="10287000"/>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6" name="Freeform 6"/>
          <p:cNvSpPr/>
          <p:nvPr/>
        </p:nvSpPr>
        <p:spPr>
          <a:xfrm>
            <a:off x="759243" y="673917"/>
            <a:ext cx="9985143" cy="1859336"/>
          </a:xfrm>
          <a:custGeom>
            <a:avLst/>
            <a:gdLst/>
            <a:ahLst/>
            <a:cxnLst/>
            <a:rect l="l" t="t" r="r" b="b"/>
            <a:pathLst>
              <a:path w="9985143" h="1859336">
                <a:moveTo>
                  <a:pt x="0" y="0"/>
                </a:moveTo>
                <a:lnTo>
                  <a:pt x="9985142" y="0"/>
                </a:lnTo>
                <a:lnTo>
                  <a:pt x="9985142" y="1859336"/>
                </a:lnTo>
                <a:lnTo>
                  <a:pt x="0" y="1859336"/>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7" name="Freeform 7"/>
          <p:cNvSpPr/>
          <p:nvPr/>
        </p:nvSpPr>
        <p:spPr>
          <a:xfrm>
            <a:off x="2811035" y="1950731"/>
            <a:ext cx="12665931" cy="5968820"/>
          </a:xfrm>
          <a:custGeom>
            <a:avLst/>
            <a:gdLst/>
            <a:ahLst/>
            <a:cxnLst/>
            <a:rect l="l" t="t" r="r" b="b"/>
            <a:pathLst>
              <a:path w="12665931" h="5968820">
                <a:moveTo>
                  <a:pt x="0" y="0"/>
                </a:moveTo>
                <a:lnTo>
                  <a:pt x="12665930" y="0"/>
                </a:lnTo>
                <a:lnTo>
                  <a:pt x="12665930" y="5968820"/>
                </a:lnTo>
                <a:lnTo>
                  <a:pt x="0" y="5968820"/>
                </a:lnTo>
                <a:lnTo>
                  <a:pt x="0" y="0"/>
                </a:lnTo>
                <a:close/>
              </a:path>
            </a:pathLst>
          </a:custGeom>
          <a:blipFill>
            <a:blip r:embed="rId7"/>
            <a:stretch>
              <a:fillRect/>
            </a:stretch>
          </a:blipFill>
        </p:spPr>
      </p:sp>
      <p:sp>
        <p:nvSpPr>
          <p:cNvPr id="8" name="TextBox 8"/>
          <p:cNvSpPr txBox="1"/>
          <p:nvPr/>
        </p:nvSpPr>
        <p:spPr>
          <a:xfrm>
            <a:off x="759243" y="374865"/>
            <a:ext cx="8717096" cy="1042764"/>
          </a:xfrm>
          <a:prstGeom prst="rect">
            <a:avLst/>
          </a:prstGeom>
        </p:spPr>
        <p:txBody>
          <a:bodyPr lIns="0" tIns="0" rIns="0" bIns="0" rtlCol="0" anchor="t">
            <a:spAutoFit/>
          </a:bodyPr>
          <a:lstStyle/>
          <a:p>
            <a:pPr algn="l">
              <a:lnSpc>
                <a:spcPts val="7672"/>
              </a:lnSpc>
            </a:pPr>
            <a:r>
              <a:rPr lang="en-US" sz="5588" spc="11">
                <a:solidFill>
                  <a:srgbClr val="D5D5D8"/>
                </a:solidFill>
                <a:latin typeface="Times New Roman MT Condensed"/>
                <a:ea typeface="Times New Roman MT Condensed"/>
                <a:cs typeface="Times New Roman MT Condensed"/>
                <a:sym typeface="Times New Roman MT Condensed"/>
              </a:rPr>
              <a:t>Output &amp; Deliverables - KYBER</a:t>
            </a:r>
          </a:p>
        </p:txBody>
      </p:sp>
      <p:sp>
        <p:nvSpPr>
          <p:cNvPr id="9" name="TextBox 9"/>
          <p:cNvSpPr txBox="1"/>
          <p:nvPr/>
        </p:nvSpPr>
        <p:spPr>
          <a:xfrm>
            <a:off x="5988873" y="8074332"/>
            <a:ext cx="6974931" cy="1021763"/>
          </a:xfrm>
          <a:prstGeom prst="rect">
            <a:avLst/>
          </a:prstGeom>
        </p:spPr>
        <p:txBody>
          <a:bodyPr lIns="0" tIns="0" rIns="0" bIns="0" rtlCol="0" anchor="t">
            <a:spAutoFit/>
          </a:bodyPr>
          <a:lstStyle/>
          <a:p>
            <a:pPr algn="l">
              <a:lnSpc>
                <a:spcPts val="8235"/>
              </a:lnSpc>
            </a:pPr>
            <a:r>
              <a:rPr lang="en-US" sz="4242" spc="8">
                <a:solidFill>
                  <a:srgbClr val="CFD0D8"/>
                </a:solidFill>
                <a:latin typeface="Times New Roman MT Condensed"/>
                <a:ea typeface="Times New Roman MT Condensed"/>
                <a:cs typeface="Times New Roman MT Condensed"/>
                <a:sym typeface="Times New Roman MT Condensed"/>
              </a:rPr>
              <a:t>IP Block Diagram Of KYBER - 512</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sp>
      <p:sp>
        <p:nvSpPr>
          <p:cNvPr id="4" name="Freeform 4"/>
          <p:cNvSpPr/>
          <p:nvPr/>
        </p:nvSpPr>
        <p:spPr>
          <a:xfrm>
            <a:off x="-479583" y="-496090"/>
            <a:ext cx="19182651" cy="10862463"/>
          </a:xfrm>
          <a:custGeom>
            <a:avLst/>
            <a:gdLst/>
            <a:ahLst/>
            <a:cxnLst/>
            <a:rect l="l" t="t" r="r" b="b"/>
            <a:pathLst>
              <a:path w="19182651" h="10862463">
                <a:moveTo>
                  <a:pt x="0" y="0"/>
                </a:moveTo>
                <a:lnTo>
                  <a:pt x="19182651" y="0"/>
                </a:lnTo>
                <a:lnTo>
                  <a:pt x="19182651" y="10862463"/>
                </a:lnTo>
                <a:lnTo>
                  <a:pt x="0" y="10862463"/>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5" name="Freeform 5"/>
          <p:cNvSpPr/>
          <p:nvPr/>
        </p:nvSpPr>
        <p:spPr>
          <a:xfrm>
            <a:off x="17125646" y="-170390"/>
            <a:ext cx="6858000" cy="10287000"/>
          </a:xfrm>
          <a:custGeom>
            <a:avLst/>
            <a:gdLst/>
            <a:ahLst/>
            <a:cxnLst/>
            <a:rect l="l" t="t" r="r" b="b"/>
            <a:pathLst>
              <a:path w="6858000" h="10287000">
                <a:moveTo>
                  <a:pt x="0" y="0"/>
                </a:moveTo>
                <a:lnTo>
                  <a:pt x="6858000" y="0"/>
                </a:lnTo>
                <a:lnTo>
                  <a:pt x="6858000" y="10287000"/>
                </a:lnTo>
                <a:lnTo>
                  <a:pt x="0" y="10287000"/>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6" name="Freeform 6"/>
          <p:cNvSpPr/>
          <p:nvPr/>
        </p:nvSpPr>
        <p:spPr>
          <a:xfrm>
            <a:off x="759243" y="673917"/>
            <a:ext cx="9985143" cy="1859336"/>
          </a:xfrm>
          <a:custGeom>
            <a:avLst/>
            <a:gdLst/>
            <a:ahLst/>
            <a:cxnLst/>
            <a:rect l="l" t="t" r="r" b="b"/>
            <a:pathLst>
              <a:path w="9985143" h="1859336">
                <a:moveTo>
                  <a:pt x="0" y="0"/>
                </a:moveTo>
                <a:lnTo>
                  <a:pt x="9985142" y="0"/>
                </a:lnTo>
                <a:lnTo>
                  <a:pt x="9985142" y="1859336"/>
                </a:lnTo>
                <a:lnTo>
                  <a:pt x="0" y="1859336"/>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9" name="TextBox 9"/>
          <p:cNvSpPr txBox="1"/>
          <p:nvPr/>
        </p:nvSpPr>
        <p:spPr>
          <a:xfrm>
            <a:off x="347131" y="152535"/>
            <a:ext cx="8717096" cy="1042764"/>
          </a:xfrm>
          <a:prstGeom prst="rect">
            <a:avLst/>
          </a:prstGeom>
        </p:spPr>
        <p:txBody>
          <a:bodyPr lIns="0" tIns="0" rIns="0" bIns="0" rtlCol="0" anchor="t">
            <a:spAutoFit/>
          </a:bodyPr>
          <a:lstStyle/>
          <a:p>
            <a:pPr algn="l">
              <a:lnSpc>
                <a:spcPts val="7672"/>
              </a:lnSpc>
            </a:pPr>
            <a:r>
              <a:rPr lang="en-US" sz="5588" spc="11" dirty="0">
                <a:solidFill>
                  <a:srgbClr val="D5D5D8"/>
                </a:solidFill>
                <a:latin typeface="Times New Roman MT Condensed"/>
                <a:ea typeface="Times New Roman MT Condensed"/>
                <a:cs typeface="Times New Roman MT Condensed"/>
                <a:sym typeface="Times New Roman MT Condensed"/>
              </a:rPr>
              <a:t>Output &amp; Deliverables - KYBER</a:t>
            </a:r>
          </a:p>
        </p:txBody>
      </p:sp>
      <p:sp>
        <p:nvSpPr>
          <p:cNvPr id="10" name="TextBox 10"/>
          <p:cNvSpPr txBox="1"/>
          <p:nvPr/>
        </p:nvSpPr>
        <p:spPr>
          <a:xfrm>
            <a:off x="3589106" y="8909422"/>
            <a:ext cx="11774466" cy="1021763"/>
          </a:xfrm>
          <a:prstGeom prst="rect">
            <a:avLst/>
          </a:prstGeom>
        </p:spPr>
        <p:txBody>
          <a:bodyPr lIns="0" tIns="0" rIns="0" bIns="0" rtlCol="0" anchor="t">
            <a:spAutoFit/>
          </a:bodyPr>
          <a:lstStyle/>
          <a:p>
            <a:pPr algn="l">
              <a:lnSpc>
                <a:spcPts val="8235"/>
              </a:lnSpc>
            </a:pPr>
            <a:r>
              <a:rPr lang="en-US" sz="4242" spc="8" dirty="0">
                <a:solidFill>
                  <a:srgbClr val="CFD0D8"/>
                </a:solidFill>
                <a:latin typeface="Times New Roman MT Condensed"/>
                <a:ea typeface="Times New Roman MT Condensed"/>
                <a:cs typeface="Times New Roman MT Condensed"/>
                <a:sym typeface="Times New Roman MT Condensed"/>
              </a:rPr>
              <a:t>Successful Implementation of KYBER - 512 on PYNQ Z2</a:t>
            </a:r>
          </a:p>
        </p:txBody>
      </p:sp>
      <p:pic>
        <p:nvPicPr>
          <p:cNvPr id="14" name="Picture 13">
            <a:extLst>
              <a:ext uri="{FF2B5EF4-FFF2-40B4-BE49-F238E27FC236}">
                <a16:creationId xmlns:a16="http://schemas.microsoft.com/office/drawing/2014/main" id="{F7DEAE01-5965-216B-7EB5-8E70A58BC081}"/>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98746" y="1257300"/>
            <a:ext cx="16290507" cy="7828017"/>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57633A45-DF93-E02A-FBED-322299C21B22}"/>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58CA8D50-80ED-39B2-8985-D4224FECC0C0}"/>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a:extLst>
              <a:ext uri="{FF2B5EF4-FFF2-40B4-BE49-F238E27FC236}">
                <a16:creationId xmlns:a16="http://schemas.microsoft.com/office/drawing/2014/main" id="{98CB6342-ED0F-A6CD-8B9D-88373E0663FA}"/>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sp>
      <p:sp>
        <p:nvSpPr>
          <p:cNvPr id="4" name="Freeform 4">
            <a:extLst>
              <a:ext uri="{FF2B5EF4-FFF2-40B4-BE49-F238E27FC236}">
                <a16:creationId xmlns:a16="http://schemas.microsoft.com/office/drawing/2014/main" id="{83E41B73-841D-58C3-9361-2ED2C75BCA71}"/>
              </a:ext>
            </a:extLst>
          </p:cNvPr>
          <p:cNvSpPr/>
          <p:nvPr/>
        </p:nvSpPr>
        <p:spPr>
          <a:xfrm>
            <a:off x="-479583" y="-384963"/>
            <a:ext cx="19182651" cy="10862463"/>
          </a:xfrm>
          <a:custGeom>
            <a:avLst/>
            <a:gdLst/>
            <a:ahLst/>
            <a:cxnLst/>
            <a:rect l="l" t="t" r="r" b="b"/>
            <a:pathLst>
              <a:path w="19182651" h="10862463">
                <a:moveTo>
                  <a:pt x="0" y="0"/>
                </a:moveTo>
                <a:lnTo>
                  <a:pt x="19182651" y="0"/>
                </a:lnTo>
                <a:lnTo>
                  <a:pt x="19182651" y="10862463"/>
                </a:lnTo>
                <a:lnTo>
                  <a:pt x="0" y="10862463"/>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5" name="Freeform 5">
            <a:extLst>
              <a:ext uri="{FF2B5EF4-FFF2-40B4-BE49-F238E27FC236}">
                <a16:creationId xmlns:a16="http://schemas.microsoft.com/office/drawing/2014/main" id="{F2540F1F-8867-7406-5776-252E05210DCB}"/>
              </a:ext>
            </a:extLst>
          </p:cNvPr>
          <p:cNvSpPr/>
          <p:nvPr/>
        </p:nvSpPr>
        <p:spPr>
          <a:xfrm>
            <a:off x="17125646" y="-170390"/>
            <a:ext cx="6858000" cy="10287000"/>
          </a:xfrm>
          <a:custGeom>
            <a:avLst/>
            <a:gdLst/>
            <a:ahLst/>
            <a:cxnLst/>
            <a:rect l="l" t="t" r="r" b="b"/>
            <a:pathLst>
              <a:path w="6858000" h="10287000">
                <a:moveTo>
                  <a:pt x="0" y="0"/>
                </a:moveTo>
                <a:lnTo>
                  <a:pt x="6858000" y="0"/>
                </a:lnTo>
                <a:lnTo>
                  <a:pt x="6858000" y="10287000"/>
                </a:lnTo>
                <a:lnTo>
                  <a:pt x="0" y="10287000"/>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6" name="Freeform 6">
            <a:extLst>
              <a:ext uri="{FF2B5EF4-FFF2-40B4-BE49-F238E27FC236}">
                <a16:creationId xmlns:a16="http://schemas.microsoft.com/office/drawing/2014/main" id="{B4F2099C-8835-3037-0773-AF59E615E588}"/>
              </a:ext>
            </a:extLst>
          </p:cNvPr>
          <p:cNvSpPr/>
          <p:nvPr/>
        </p:nvSpPr>
        <p:spPr>
          <a:xfrm>
            <a:off x="759243" y="673917"/>
            <a:ext cx="9985143" cy="1859336"/>
          </a:xfrm>
          <a:custGeom>
            <a:avLst/>
            <a:gdLst/>
            <a:ahLst/>
            <a:cxnLst/>
            <a:rect l="l" t="t" r="r" b="b"/>
            <a:pathLst>
              <a:path w="9985143" h="1859336">
                <a:moveTo>
                  <a:pt x="0" y="0"/>
                </a:moveTo>
                <a:lnTo>
                  <a:pt x="9985142" y="0"/>
                </a:lnTo>
                <a:lnTo>
                  <a:pt x="9985142" y="1859336"/>
                </a:lnTo>
                <a:lnTo>
                  <a:pt x="0" y="1859336"/>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9" name="TextBox 9">
            <a:extLst>
              <a:ext uri="{FF2B5EF4-FFF2-40B4-BE49-F238E27FC236}">
                <a16:creationId xmlns:a16="http://schemas.microsoft.com/office/drawing/2014/main" id="{03319003-7A92-C13A-E19D-6F27B805C337}"/>
              </a:ext>
            </a:extLst>
          </p:cNvPr>
          <p:cNvSpPr txBox="1"/>
          <p:nvPr/>
        </p:nvSpPr>
        <p:spPr>
          <a:xfrm>
            <a:off x="759243" y="374865"/>
            <a:ext cx="8717096" cy="1042764"/>
          </a:xfrm>
          <a:prstGeom prst="rect">
            <a:avLst/>
          </a:prstGeom>
        </p:spPr>
        <p:txBody>
          <a:bodyPr lIns="0" tIns="0" rIns="0" bIns="0" rtlCol="0" anchor="t">
            <a:spAutoFit/>
          </a:bodyPr>
          <a:lstStyle/>
          <a:p>
            <a:pPr algn="l">
              <a:lnSpc>
                <a:spcPts val="7672"/>
              </a:lnSpc>
            </a:pPr>
            <a:r>
              <a:rPr lang="en-US" sz="5588" spc="11" dirty="0">
                <a:solidFill>
                  <a:srgbClr val="D5D5D8"/>
                </a:solidFill>
                <a:latin typeface="Times New Roman MT Condensed"/>
                <a:ea typeface="Times New Roman MT Condensed"/>
                <a:cs typeface="Times New Roman MT Condensed"/>
                <a:sym typeface="Times New Roman MT Condensed"/>
              </a:rPr>
              <a:t>Output &amp; Deliverables - KYBER</a:t>
            </a:r>
          </a:p>
        </p:txBody>
      </p:sp>
      <p:sp>
        <p:nvSpPr>
          <p:cNvPr id="10" name="TextBox 10">
            <a:extLst>
              <a:ext uri="{FF2B5EF4-FFF2-40B4-BE49-F238E27FC236}">
                <a16:creationId xmlns:a16="http://schemas.microsoft.com/office/drawing/2014/main" id="{4B60C8CB-CAA9-9540-8610-136CB0FC932D}"/>
              </a:ext>
            </a:extLst>
          </p:cNvPr>
          <p:cNvSpPr txBox="1"/>
          <p:nvPr/>
        </p:nvSpPr>
        <p:spPr>
          <a:xfrm>
            <a:off x="2620813" y="8722289"/>
            <a:ext cx="13711051" cy="942630"/>
          </a:xfrm>
          <a:prstGeom prst="rect">
            <a:avLst/>
          </a:prstGeom>
        </p:spPr>
        <p:txBody>
          <a:bodyPr wrap="square" lIns="0" tIns="0" rIns="0" bIns="0" rtlCol="0" anchor="t">
            <a:spAutoFit/>
          </a:bodyPr>
          <a:lstStyle/>
          <a:p>
            <a:pPr algn="l">
              <a:lnSpc>
                <a:spcPts val="8235"/>
              </a:lnSpc>
            </a:pPr>
            <a:r>
              <a:rPr lang="en-US" sz="4242" spc="8" dirty="0">
                <a:solidFill>
                  <a:srgbClr val="CFD0D8"/>
                </a:solidFill>
                <a:latin typeface="Times New Roman MT Condensed"/>
                <a:ea typeface="Times New Roman MT Condensed"/>
                <a:cs typeface="Times New Roman MT Condensed"/>
                <a:sym typeface="Times New Roman MT Condensed"/>
              </a:rPr>
              <a:t>KYBER – 512 securing Images using slicing and encryption Technique</a:t>
            </a:r>
          </a:p>
        </p:txBody>
      </p:sp>
      <p:pic>
        <p:nvPicPr>
          <p:cNvPr id="14" name="Picture 13">
            <a:extLst>
              <a:ext uri="{FF2B5EF4-FFF2-40B4-BE49-F238E27FC236}">
                <a16:creationId xmlns:a16="http://schemas.microsoft.com/office/drawing/2014/main" id="{A7D4D254-BD2B-237A-FD43-2C80B8826CC7}"/>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752600" y="1564711"/>
            <a:ext cx="14554200" cy="7046894"/>
          </a:xfrm>
          <a:prstGeom prst="rect">
            <a:avLst/>
          </a:prstGeom>
        </p:spPr>
      </p:pic>
    </p:spTree>
    <p:extLst>
      <p:ext uri="{BB962C8B-B14F-4D97-AF65-F5344CB8AC3E}">
        <p14:creationId xmlns:p14="http://schemas.microsoft.com/office/powerpoint/2010/main" val="5170934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sp>
      <p:sp>
        <p:nvSpPr>
          <p:cNvPr id="4" name="Freeform 4"/>
          <p:cNvSpPr/>
          <p:nvPr/>
        </p:nvSpPr>
        <p:spPr>
          <a:xfrm>
            <a:off x="-479583" y="-496090"/>
            <a:ext cx="19182651" cy="10862463"/>
          </a:xfrm>
          <a:custGeom>
            <a:avLst/>
            <a:gdLst/>
            <a:ahLst/>
            <a:cxnLst/>
            <a:rect l="l" t="t" r="r" b="b"/>
            <a:pathLst>
              <a:path w="19182651" h="10862463">
                <a:moveTo>
                  <a:pt x="0" y="0"/>
                </a:moveTo>
                <a:lnTo>
                  <a:pt x="19182651" y="0"/>
                </a:lnTo>
                <a:lnTo>
                  <a:pt x="19182651" y="10862463"/>
                </a:lnTo>
                <a:lnTo>
                  <a:pt x="0" y="10862463"/>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5" name="Freeform 5"/>
          <p:cNvSpPr/>
          <p:nvPr/>
        </p:nvSpPr>
        <p:spPr>
          <a:xfrm>
            <a:off x="17125646" y="-170390"/>
            <a:ext cx="6858000" cy="10287000"/>
          </a:xfrm>
          <a:custGeom>
            <a:avLst/>
            <a:gdLst/>
            <a:ahLst/>
            <a:cxnLst/>
            <a:rect l="l" t="t" r="r" b="b"/>
            <a:pathLst>
              <a:path w="6858000" h="10287000">
                <a:moveTo>
                  <a:pt x="0" y="0"/>
                </a:moveTo>
                <a:lnTo>
                  <a:pt x="6858000" y="0"/>
                </a:lnTo>
                <a:lnTo>
                  <a:pt x="6858000" y="10287000"/>
                </a:lnTo>
                <a:lnTo>
                  <a:pt x="0" y="10287000"/>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6" name="Freeform 6"/>
          <p:cNvSpPr/>
          <p:nvPr/>
        </p:nvSpPr>
        <p:spPr>
          <a:xfrm>
            <a:off x="759243" y="673917"/>
            <a:ext cx="9985143" cy="1859336"/>
          </a:xfrm>
          <a:custGeom>
            <a:avLst/>
            <a:gdLst/>
            <a:ahLst/>
            <a:cxnLst/>
            <a:rect l="l" t="t" r="r" b="b"/>
            <a:pathLst>
              <a:path w="9985143" h="1859336">
                <a:moveTo>
                  <a:pt x="0" y="0"/>
                </a:moveTo>
                <a:lnTo>
                  <a:pt x="9985142" y="0"/>
                </a:lnTo>
                <a:lnTo>
                  <a:pt x="9985142" y="1859336"/>
                </a:lnTo>
                <a:lnTo>
                  <a:pt x="0" y="1859336"/>
                </a:lnTo>
                <a:lnTo>
                  <a:pt x="0" y="0"/>
                </a:lnTo>
                <a:close/>
              </a:path>
            </a:pathLst>
          </a:custGeom>
          <a:blipFill>
            <a:blip>
              <a:extLst>
                <a:ext uri="{96DAC541-7B7A-43D3-8B79-37D633B846F1}">
                  <asvg:svgBlip xmlns:asvg="http://schemas.microsoft.com/office/drawing/2016/SVG/main" r:embed="rId6"/>
                </a:ext>
              </a:extLst>
            </a:blip>
            <a:stretch>
              <a:fillRect/>
            </a:stretch>
          </a:blipFill>
        </p:spPr>
      </p:sp>
      <p:grpSp>
        <p:nvGrpSpPr>
          <p:cNvPr id="7" name="Group 7"/>
          <p:cNvGrpSpPr/>
          <p:nvPr/>
        </p:nvGrpSpPr>
        <p:grpSpPr>
          <a:xfrm>
            <a:off x="10092661" y="1663034"/>
            <a:ext cx="7461215" cy="6967555"/>
            <a:chOff x="0" y="0"/>
            <a:chExt cx="870388" cy="812800"/>
          </a:xfrm>
        </p:grpSpPr>
        <p:sp>
          <p:nvSpPr>
            <p:cNvPr id="8" name="Freeform 8"/>
            <p:cNvSpPr/>
            <p:nvPr/>
          </p:nvSpPr>
          <p:spPr>
            <a:xfrm>
              <a:off x="0" y="0"/>
              <a:ext cx="870388" cy="812800"/>
            </a:xfrm>
            <a:custGeom>
              <a:avLst/>
              <a:gdLst/>
              <a:ahLst/>
              <a:cxnLst/>
              <a:rect l="l" t="t" r="r" b="b"/>
              <a:pathLst>
                <a:path w="870388" h="812800">
                  <a:moveTo>
                    <a:pt x="23346" y="0"/>
                  </a:moveTo>
                  <a:lnTo>
                    <a:pt x="847041" y="0"/>
                  </a:lnTo>
                  <a:cubicBezTo>
                    <a:pt x="859935" y="0"/>
                    <a:pt x="870388" y="10453"/>
                    <a:pt x="870388" y="23346"/>
                  </a:cubicBezTo>
                  <a:lnTo>
                    <a:pt x="870388" y="789454"/>
                  </a:lnTo>
                  <a:cubicBezTo>
                    <a:pt x="870388" y="802347"/>
                    <a:pt x="859935" y="812800"/>
                    <a:pt x="847041" y="812800"/>
                  </a:cubicBezTo>
                  <a:lnTo>
                    <a:pt x="23346" y="812800"/>
                  </a:lnTo>
                  <a:cubicBezTo>
                    <a:pt x="10453" y="812800"/>
                    <a:pt x="0" y="802347"/>
                    <a:pt x="0" y="789454"/>
                  </a:cubicBezTo>
                  <a:lnTo>
                    <a:pt x="0" y="23346"/>
                  </a:lnTo>
                  <a:cubicBezTo>
                    <a:pt x="0" y="10453"/>
                    <a:pt x="10453" y="0"/>
                    <a:pt x="23346" y="0"/>
                  </a:cubicBezTo>
                  <a:close/>
                </a:path>
              </a:pathLst>
            </a:custGeom>
            <a:blipFill>
              <a:blip r:embed="rId7"/>
              <a:stretch>
                <a:fillRect l="-7985" t="-15911" r="-54478"/>
              </a:stretch>
            </a:blipFill>
          </p:spPr>
        </p:sp>
      </p:grpSp>
      <p:sp>
        <p:nvSpPr>
          <p:cNvPr id="9" name="TextBox 9"/>
          <p:cNvSpPr txBox="1"/>
          <p:nvPr/>
        </p:nvSpPr>
        <p:spPr>
          <a:xfrm>
            <a:off x="759243" y="374865"/>
            <a:ext cx="8717096" cy="1042764"/>
          </a:xfrm>
          <a:prstGeom prst="rect">
            <a:avLst/>
          </a:prstGeom>
        </p:spPr>
        <p:txBody>
          <a:bodyPr lIns="0" tIns="0" rIns="0" bIns="0" rtlCol="0" anchor="t">
            <a:spAutoFit/>
          </a:bodyPr>
          <a:lstStyle/>
          <a:p>
            <a:pPr algn="l">
              <a:lnSpc>
                <a:spcPts val="7672"/>
              </a:lnSpc>
            </a:pPr>
            <a:r>
              <a:rPr lang="en-US" sz="5588" spc="11">
                <a:solidFill>
                  <a:srgbClr val="D5D5D8"/>
                </a:solidFill>
                <a:latin typeface="Times New Roman MT Condensed"/>
                <a:ea typeface="Times New Roman MT Condensed"/>
                <a:cs typeface="Times New Roman MT Condensed"/>
                <a:sym typeface="Times New Roman MT Condensed"/>
              </a:rPr>
              <a:t>Kyber vs Dilithium</a:t>
            </a:r>
          </a:p>
        </p:txBody>
      </p:sp>
      <p:sp>
        <p:nvSpPr>
          <p:cNvPr id="10" name="TextBox 10"/>
          <p:cNvSpPr txBox="1"/>
          <p:nvPr/>
        </p:nvSpPr>
        <p:spPr>
          <a:xfrm>
            <a:off x="764266" y="1752219"/>
            <a:ext cx="8552529" cy="8099711"/>
          </a:xfrm>
          <a:prstGeom prst="rect">
            <a:avLst/>
          </a:prstGeom>
        </p:spPr>
        <p:txBody>
          <a:bodyPr lIns="0" tIns="0" rIns="0" bIns="0" rtlCol="0" anchor="t">
            <a:spAutoFit/>
          </a:bodyPr>
          <a:lstStyle/>
          <a:p>
            <a:pPr algn="l">
              <a:lnSpc>
                <a:spcPts val="5373"/>
              </a:lnSpc>
            </a:pPr>
            <a:r>
              <a:rPr lang="en-US" sz="2768" spc="5">
                <a:solidFill>
                  <a:srgbClr val="CFD0D8"/>
                </a:solidFill>
                <a:latin typeface="Open Sans"/>
                <a:ea typeface="Open Sans"/>
                <a:cs typeface="Open Sans"/>
                <a:sym typeface="Open Sans"/>
              </a:rPr>
              <a:t>Kyber</a:t>
            </a:r>
          </a:p>
          <a:p>
            <a:pPr marL="597726" lvl="1" indent="-298863" algn="l">
              <a:lnSpc>
                <a:spcPts val="5373"/>
              </a:lnSpc>
              <a:buFont typeface="Arial"/>
              <a:buChar char="•"/>
            </a:pPr>
            <a:r>
              <a:rPr lang="en-US" sz="2768" spc="5">
                <a:solidFill>
                  <a:srgbClr val="CFD0D8"/>
                </a:solidFill>
                <a:latin typeface="Open Sans"/>
                <a:ea typeface="Open Sans"/>
                <a:cs typeface="Open Sans"/>
                <a:sym typeface="Open Sans"/>
              </a:rPr>
              <a:t>Purpose is key encapsulation and key exchange</a:t>
            </a:r>
          </a:p>
          <a:p>
            <a:pPr marL="597726" lvl="1" indent="-298863" algn="l">
              <a:lnSpc>
                <a:spcPts val="5373"/>
              </a:lnSpc>
              <a:buFont typeface="Arial"/>
              <a:buChar char="•"/>
            </a:pPr>
            <a:r>
              <a:rPr lang="en-US" sz="2768" spc="5">
                <a:solidFill>
                  <a:srgbClr val="CFD0D8"/>
                </a:solidFill>
                <a:latin typeface="Open Sans"/>
                <a:ea typeface="Open Sans"/>
                <a:cs typeface="Open Sans"/>
                <a:sym typeface="Open Sans"/>
              </a:rPr>
              <a:t>Used to establish shared secret keys</a:t>
            </a:r>
          </a:p>
          <a:p>
            <a:pPr marL="597726" lvl="1" indent="-298863" algn="l">
              <a:lnSpc>
                <a:spcPts val="5373"/>
              </a:lnSpc>
              <a:buFont typeface="Arial"/>
              <a:buChar char="•"/>
            </a:pPr>
            <a:r>
              <a:rPr lang="en-US" sz="2768" spc="5">
                <a:solidFill>
                  <a:srgbClr val="CFD0D8"/>
                </a:solidFill>
                <a:latin typeface="Open Sans"/>
                <a:ea typeface="Open Sans"/>
                <a:cs typeface="Open Sans"/>
                <a:sym typeface="Open Sans"/>
              </a:rPr>
              <a:t>Optimized for encryption style operations</a:t>
            </a:r>
          </a:p>
          <a:p>
            <a:pPr marL="597726" lvl="1" indent="-298863" algn="l">
              <a:lnSpc>
                <a:spcPts val="5373"/>
              </a:lnSpc>
              <a:buFont typeface="Arial"/>
              <a:buChar char="•"/>
            </a:pPr>
            <a:r>
              <a:rPr lang="en-US" sz="2768" spc="5">
                <a:solidFill>
                  <a:srgbClr val="CFD0D8"/>
                </a:solidFill>
                <a:latin typeface="Open Sans"/>
                <a:ea typeface="Open Sans"/>
                <a:cs typeface="Open Sans"/>
                <a:sym typeface="Open Sans"/>
              </a:rPr>
              <a:t>Smaller ciphertext and faster decapsulation</a:t>
            </a:r>
          </a:p>
          <a:p>
            <a:pPr algn="l">
              <a:lnSpc>
                <a:spcPts val="5373"/>
              </a:lnSpc>
            </a:pPr>
            <a:r>
              <a:rPr lang="en-US" sz="2768" spc="5">
                <a:solidFill>
                  <a:srgbClr val="CFD0D8"/>
                </a:solidFill>
                <a:latin typeface="Open Sans"/>
                <a:ea typeface="Open Sans"/>
                <a:cs typeface="Open Sans"/>
                <a:sym typeface="Open Sans"/>
              </a:rPr>
              <a:t>Dilithium</a:t>
            </a:r>
          </a:p>
          <a:p>
            <a:pPr marL="597726" lvl="1" indent="-298863" algn="l">
              <a:lnSpc>
                <a:spcPts val="5373"/>
              </a:lnSpc>
              <a:buFont typeface="Arial"/>
              <a:buChar char="•"/>
            </a:pPr>
            <a:r>
              <a:rPr lang="en-US" sz="2768" spc="5">
                <a:solidFill>
                  <a:srgbClr val="CFD0D8"/>
                </a:solidFill>
                <a:latin typeface="Open Sans"/>
                <a:ea typeface="Open Sans"/>
                <a:cs typeface="Open Sans"/>
                <a:sym typeface="Open Sans"/>
              </a:rPr>
              <a:t>Purpose is digital signatures and authentication</a:t>
            </a:r>
          </a:p>
          <a:p>
            <a:pPr marL="597726" lvl="1" indent="-298863" algn="l">
              <a:lnSpc>
                <a:spcPts val="5373"/>
              </a:lnSpc>
              <a:buFont typeface="Arial"/>
              <a:buChar char="•"/>
            </a:pPr>
            <a:r>
              <a:rPr lang="en-US" sz="2768" spc="5">
                <a:solidFill>
                  <a:srgbClr val="CFD0D8"/>
                </a:solidFill>
                <a:latin typeface="Open Sans"/>
                <a:ea typeface="Open Sans"/>
                <a:cs typeface="Open Sans"/>
                <a:sym typeface="Open Sans"/>
              </a:rPr>
              <a:t>Used to sign messages and verify identity</a:t>
            </a:r>
          </a:p>
          <a:p>
            <a:pPr marL="597726" lvl="1" indent="-298863" algn="l">
              <a:lnSpc>
                <a:spcPts val="5373"/>
              </a:lnSpc>
              <a:buFont typeface="Arial"/>
              <a:buChar char="•"/>
            </a:pPr>
            <a:r>
              <a:rPr lang="en-US" sz="2768" spc="5">
                <a:solidFill>
                  <a:srgbClr val="CFD0D8"/>
                </a:solidFill>
                <a:latin typeface="Open Sans"/>
                <a:ea typeface="Open Sans"/>
                <a:cs typeface="Open Sans"/>
                <a:sym typeface="Open Sans"/>
              </a:rPr>
              <a:t>Requires repeated polynomial transforms during signing</a:t>
            </a:r>
          </a:p>
          <a:p>
            <a:pPr marL="597726" lvl="1" indent="-298863" algn="l">
              <a:lnSpc>
                <a:spcPts val="5373"/>
              </a:lnSpc>
              <a:buFont typeface="Arial"/>
              <a:buChar char="•"/>
            </a:pPr>
            <a:r>
              <a:rPr lang="en-US" sz="2768" spc="5">
                <a:solidFill>
                  <a:srgbClr val="CFD0D8"/>
                </a:solidFill>
                <a:latin typeface="Open Sans"/>
                <a:ea typeface="Open Sans"/>
                <a:cs typeface="Open Sans"/>
                <a:sym typeface="Open Sans"/>
              </a:rPr>
              <a:t>Focus on strong integrity and non repudiation</a:t>
            </a:r>
          </a:p>
          <a:p>
            <a:pPr algn="l">
              <a:lnSpc>
                <a:spcPts val="5373"/>
              </a:lnSpc>
            </a:pPr>
            <a:endParaRPr lang="en-US" sz="2768" spc="5">
              <a:solidFill>
                <a:srgbClr val="CFD0D8"/>
              </a:solidFill>
              <a:latin typeface="Open Sans"/>
              <a:ea typeface="Open Sans"/>
              <a:cs typeface="Open Sans"/>
              <a:sym typeface="Open San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sp>
      <p:sp>
        <p:nvSpPr>
          <p:cNvPr id="4" name="Freeform 4"/>
          <p:cNvSpPr/>
          <p:nvPr/>
        </p:nvSpPr>
        <p:spPr>
          <a:xfrm>
            <a:off x="-467677" y="-496090"/>
            <a:ext cx="19182651" cy="10862463"/>
          </a:xfrm>
          <a:custGeom>
            <a:avLst/>
            <a:gdLst/>
            <a:ahLst/>
            <a:cxnLst/>
            <a:rect l="l" t="t" r="r" b="b"/>
            <a:pathLst>
              <a:path w="19182651" h="10862463">
                <a:moveTo>
                  <a:pt x="0" y="0"/>
                </a:moveTo>
                <a:lnTo>
                  <a:pt x="19182652" y="0"/>
                </a:lnTo>
                <a:lnTo>
                  <a:pt x="19182652" y="10862463"/>
                </a:lnTo>
                <a:lnTo>
                  <a:pt x="0" y="10862463"/>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5" name="Freeform 5"/>
          <p:cNvSpPr/>
          <p:nvPr/>
        </p:nvSpPr>
        <p:spPr>
          <a:xfrm>
            <a:off x="17125646" y="-170390"/>
            <a:ext cx="6858000" cy="10287000"/>
          </a:xfrm>
          <a:custGeom>
            <a:avLst/>
            <a:gdLst/>
            <a:ahLst/>
            <a:cxnLst/>
            <a:rect l="l" t="t" r="r" b="b"/>
            <a:pathLst>
              <a:path w="6858000" h="10287000">
                <a:moveTo>
                  <a:pt x="0" y="0"/>
                </a:moveTo>
                <a:lnTo>
                  <a:pt x="6858000" y="0"/>
                </a:lnTo>
                <a:lnTo>
                  <a:pt x="6858000" y="10287000"/>
                </a:lnTo>
                <a:lnTo>
                  <a:pt x="0" y="10287000"/>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6" name="Freeform 6"/>
          <p:cNvSpPr/>
          <p:nvPr/>
        </p:nvSpPr>
        <p:spPr>
          <a:xfrm>
            <a:off x="759243" y="673917"/>
            <a:ext cx="9985143" cy="1859336"/>
          </a:xfrm>
          <a:custGeom>
            <a:avLst/>
            <a:gdLst/>
            <a:ahLst/>
            <a:cxnLst/>
            <a:rect l="l" t="t" r="r" b="b"/>
            <a:pathLst>
              <a:path w="9985143" h="1859336">
                <a:moveTo>
                  <a:pt x="0" y="0"/>
                </a:moveTo>
                <a:lnTo>
                  <a:pt x="9985142" y="0"/>
                </a:lnTo>
                <a:lnTo>
                  <a:pt x="9985142" y="1859336"/>
                </a:lnTo>
                <a:lnTo>
                  <a:pt x="0" y="1859336"/>
                </a:lnTo>
                <a:lnTo>
                  <a:pt x="0" y="0"/>
                </a:lnTo>
                <a:close/>
              </a:path>
            </a:pathLst>
          </a:custGeom>
          <a:blipFill>
            <a:blip>
              <a:extLst>
                <a:ext uri="{96DAC541-7B7A-43D3-8B79-37D633B846F1}">
                  <asvg:svgBlip xmlns:asvg="http://schemas.microsoft.com/office/drawing/2016/SVG/main" r:embed="rId6"/>
                </a:ext>
              </a:extLst>
            </a:blip>
            <a:stretch>
              <a:fillRect/>
            </a:stretch>
          </a:blipFill>
        </p:spPr>
      </p:sp>
      <p:grpSp>
        <p:nvGrpSpPr>
          <p:cNvPr id="7" name="Group 7"/>
          <p:cNvGrpSpPr/>
          <p:nvPr/>
        </p:nvGrpSpPr>
        <p:grpSpPr>
          <a:xfrm>
            <a:off x="12834556" y="0"/>
            <a:ext cx="5453444" cy="10287000"/>
            <a:chOff x="0" y="0"/>
            <a:chExt cx="7271259" cy="13716000"/>
          </a:xfrm>
        </p:grpSpPr>
        <p:sp>
          <p:nvSpPr>
            <p:cNvPr id="8" name="Freeform 8"/>
            <p:cNvSpPr/>
            <p:nvPr/>
          </p:nvSpPr>
          <p:spPr>
            <a:xfrm>
              <a:off x="0" y="0"/>
              <a:ext cx="7098490" cy="7034971"/>
            </a:xfrm>
            <a:custGeom>
              <a:avLst/>
              <a:gdLst/>
              <a:ahLst/>
              <a:cxnLst/>
              <a:rect l="l" t="t" r="r" b="b"/>
              <a:pathLst>
                <a:path w="7098490" h="7034971">
                  <a:moveTo>
                    <a:pt x="0" y="0"/>
                  </a:moveTo>
                  <a:lnTo>
                    <a:pt x="7098490" y="0"/>
                  </a:lnTo>
                  <a:lnTo>
                    <a:pt x="7098490" y="7034971"/>
                  </a:lnTo>
                  <a:lnTo>
                    <a:pt x="0" y="7034971"/>
                  </a:lnTo>
                  <a:lnTo>
                    <a:pt x="0" y="0"/>
                  </a:lnTo>
                  <a:close/>
                </a:path>
              </a:pathLst>
            </a:custGeom>
            <a:blipFill>
              <a:blip r:embed="rId7"/>
              <a:stretch>
                <a:fillRect l="-36627" r="-39559"/>
              </a:stretch>
            </a:blipFill>
          </p:spPr>
        </p:sp>
        <p:sp>
          <p:nvSpPr>
            <p:cNvPr id="9" name="Freeform 9"/>
            <p:cNvSpPr/>
            <p:nvPr/>
          </p:nvSpPr>
          <p:spPr>
            <a:xfrm>
              <a:off x="0" y="5870691"/>
              <a:ext cx="7271259" cy="7845309"/>
            </a:xfrm>
            <a:custGeom>
              <a:avLst/>
              <a:gdLst/>
              <a:ahLst/>
              <a:cxnLst/>
              <a:rect l="l" t="t" r="r" b="b"/>
              <a:pathLst>
                <a:path w="7271259" h="7845309">
                  <a:moveTo>
                    <a:pt x="0" y="0"/>
                  </a:moveTo>
                  <a:lnTo>
                    <a:pt x="7271259" y="0"/>
                  </a:lnTo>
                  <a:lnTo>
                    <a:pt x="7271259" y="7845309"/>
                  </a:lnTo>
                  <a:lnTo>
                    <a:pt x="0" y="7845309"/>
                  </a:lnTo>
                  <a:lnTo>
                    <a:pt x="0" y="0"/>
                  </a:lnTo>
                  <a:close/>
                </a:path>
              </a:pathLst>
            </a:custGeom>
            <a:blipFill>
              <a:blip r:embed="rId8"/>
              <a:stretch>
                <a:fillRect l="-40757" r="-50104" b="-17857"/>
              </a:stretch>
            </a:blipFill>
          </p:spPr>
        </p:sp>
      </p:grpSp>
      <p:graphicFrame>
        <p:nvGraphicFramePr>
          <p:cNvPr id="10" name="Object 10"/>
          <p:cNvGraphicFramePr/>
          <p:nvPr/>
        </p:nvGraphicFramePr>
        <p:xfrm>
          <a:off x="759243" y="2058100"/>
          <a:ext cx="7072312" cy="7858125"/>
        </p:xfrm>
        <a:graphic>
          <a:graphicData uri="http://schemas.openxmlformats.org/presentationml/2006/ole">
            <mc:AlternateContent xmlns:mc="http://schemas.openxmlformats.org/markup-compatibility/2006">
              <mc:Choice xmlns:v="urn:schemas-microsoft-com:vml" Requires="v">
                <p:oleObj name="Worksheet" r:id="rId9" imgW="6908800" imgH="7543800" progId="Excel.Sheet.12">
                  <p:embed/>
                </p:oleObj>
              </mc:Choice>
              <mc:Fallback>
                <p:oleObj name="Worksheet" r:id="rId9" imgW="6908800" imgH="7543800" progId="Excel.Sheet.12">
                  <p:embed/>
                  <p:pic>
                    <p:nvPicPr>
                      <p:cNvPr id="0" name=""/>
                      <p:cNvPicPr/>
                      <p:nvPr/>
                    </p:nvPicPr>
                    <p:blipFill>
                      <a:blip r:embed="rId10"/>
                      <a:stretch>
                        <a:fillRect/>
                      </a:stretch>
                    </p:blipFill>
                    <p:spPr>
                      <a:xfrm>
                        <a:off x="759243" y="2058100"/>
                        <a:ext cx="7072312" cy="7858125"/>
                      </a:xfrm>
                      <a:prstGeom prst="rect">
                        <a:avLst/>
                      </a:prstGeom>
                    </p:spPr>
                  </p:pic>
                </p:oleObj>
              </mc:Fallback>
            </mc:AlternateContent>
          </a:graphicData>
        </a:graphic>
      </p:graphicFrame>
      <p:sp>
        <p:nvSpPr>
          <p:cNvPr id="11" name="TextBox 11"/>
          <p:cNvSpPr txBox="1"/>
          <p:nvPr/>
        </p:nvSpPr>
        <p:spPr>
          <a:xfrm>
            <a:off x="764266" y="407305"/>
            <a:ext cx="8717096" cy="1042764"/>
          </a:xfrm>
          <a:prstGeom prst="rect">
            <a:avLst/>
          </a:prstGeom>
        </p:spPr>
        <p:txBody>
          <a:bodyPr lIns="0" tIns="0" rIns="0" bIns="0" rtlCol="0" anchor="t">
            <a:spAutoFit/>
          </a:bodyPr>
          <a:lstStyle/>
          <a:p>
            <a:pPr algn="l">
              <a:lnSpc>
                <a:spcPts val="7672"/>
              </a:lnSpc>
            </a:pPr>
            <a:r>
              <a:rPr lang="en-US" sz="5588" spc="11">
                <a:solidFill>
                  <a:srgbClr val="D5D5D8"/>
                </a:solidFill>
                <a:latin typeface="Times New Roman MT Condensed"/>
                <a:ea typeface="Times New Roman MT Condensed"/>
                <a:cs typeface="Times New Roman MT Condensed"/>
                <a:sym typeface="Times New Roman MT Condensed"/>
              </a:rPr>
              <a:t>Kyber vs Dilithium Use Cases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sp>
      <p:sp>
        <p:nvSpPr>
          <p:cNvPr id="4" name="Freeform 4"/>
          <p:cNvSpPr/>
          <p:nvPr/>
        </p:nvSpPr>
        <p:spPr>
          <a:xfrm>
            <a:off x="-479583" y="-496090"/>
            <a:ext cx="19182651" cy="10862463"/>
          </a:xfrm>
          <a:custGeom>
            <a:avLst/>
            <a:gdLst/>
            <a:ahLst/>
            <a:cxnLst/>
            <a:rect l="l" t="t" r="r" b="b"/>
            <a:pathLst>
              <a:path w="19182651" h="10862463">
                <a:moveTo>
                  <a:pt x="0" y="0"/>
                </a:moveTo>
                <a:lnTo>
                  <a:pt x="19182651" y="0"/>
                </a:lnTo>
                <a:lnTo>
                  <a:pt x="19182651" y="10862463"/>
                </a:lnTo>
                <a:lnTo>
                  <a:pt x="0" y="10862463"/>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5" name="Freeform 5"/>
          <p:cNvSpPr/>
          <p:nvPr/>
        </p:nvSpPr>
        <p:spPr>
          <a:xfrm>
            <a:off x="17125646" y="-170390"/>
            <a:ext cx="6858000" cy="10287000"/>
          </a:xfrm>
          <a:custGeom>
            <a:avLst/>
            <a:gdLst/>
            <a:ahLst/>
            <a:cxnLst/>
            <a:rect l="l" t="t" r="r" b="b"/>
            <a:pathLst>
              <a:path w="6858000" h="10287000">
                <a:moveTo>
                  <a:pt x="0" y="0"/>
                </a:moveTo>
                <a:lnTo>
                  <a:pt x="6858000" y="0"/>
                </a:lnTo>
                <a:lnTo>
                  <a:pt x="6858000" y="10287000"/>
                </a:lnTo>
                <a:lnTo>
                  <a:pt x="0" y="10287000"/>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6" name="Freeform 6"/>
          <p:cNvSpPr/>
          <p:nvPr/>
        </p:nvSpPr>
        <p:spPr>
          <a:xfrm>
            <a:off x="912864" y="947690"/>
            <a:ext cx="9604272" cy="1788414"/>
          </a:xfrm>
          <a:custGeom>
            <a:avLst/>
            <a:gdLst/>
            <a:ahLst/>
            <a:cxnLst/>
            <a:rect l="l" t="t" r="r" b="b"/>
            <a:pathLst>
              <a:path w="9604272" h="1788414">
                <a:moveTo>
                  <a:pt x="0" y="0"/>
                </a:moveTo>
                <a:lnTo>
                  <a:pt x="9604272" y="0"/>
                </a:lnTo>
                <a:lnTo>
                  <a:pt x="9604272" y="1788414"/>
                </a:lnTo>
                <a:lnTo>
                  <a:pt x="0" y="1788414"/>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7" name="Freeform 7"/>
          <p:cNvSpPr/>
          <p:nvPr/>
        </p:nvSpPr>
        <p:spPr>
          <a:xfrm>
            <a:off x="11222627" y="79373"/>
            <a:ext cx="9691597" cy="10287000"/>
          </a:xfrm>
          <a:custGeom>
            <a:avLst/>
            <a:gdLst/>
            <a:ahLst/>
            <a:cxnLst/>
            <a:rect l="l" t="t" r="r" b="b"/>
            <a:pathLst>
              <a:path w="9691597" h="10287000">
                <a:moveTo>
                  <a:pt x="0" y="0"/>
                </a:moveTo>
                <a:lnTo>
                  <a:pt x="9691596" y="0"/>
                </a:lnTo>
                <a:lnTo>
                  <a:pt x="9691596" y="10287000"/>
                </a:lnTo>
                <a:lnTo>
                  <a:pt x="0" y="10287000"/>
                </a:lnTo>
                <a:lnTo>
                  <a:pt x="0" y="0"/>
                </a:lnTo>
                <a:close/>
              </a:path>
            </a:pathLst>
          </a:custGeom>
          <a:blipFill>
            <a:blip r:embed="rId7"/>
            <a:stretch>
              <a:fillRect l="-56006" r="-32692"/>
            </a:stretch>
          </a:blipFill>
        </p:spPr>
      </p:sp>
      <p:sp>
        <p:nvSpPr>
          <p:cNvPr id="8" name="TextBox 8"/>
          <p:cNvSpPr txBox="1"/>
          <p:nvPr/>
        </p:nvSpPr>
        <p:spPr>
          <a:xfrm>
            <a:off x="912864" y="392787"/>
            <a:ext cx="8384593" cy="1062276"/>
          </a:xfrm>
          <a:prstGeom prst="rect">
            <a:avLst/>
          </a:prstGeom>
        </p:spPr>
        <p:txBody>
          <a:bodyPr lIns="0" tIns="0" rIns="0" bIns="0" rtlCol="0" anchor="t">
            <a:spAutoFit/>
          </a:bodyPr>
          <a:lstStyle/>
          <a:p>
            <a:pPr algn="l">
              <a:lnSpc>
                <a:spcPts val="7723"/>
              </a:lnSpc>
            </a:pPr>
            <a:r>
              <a:rPr lang="en-US" sz="5624" spc="11">
                <a:solidFill>
                  <a:srgbClr val="D5D5D8"/>
                </a:solidFill>
                <a:latin typeface="Times New Roman MT Condensed"/>
                <a:ea typeface="Times New Roman MT Condensed"/>
                <a:cs typeface="Times New Roman MT Condensed"/>
                <a:sym typeface="Times New Roman MT Condensed"/>
              </a:rPr>
              <a:t>Future Scope</a:t>
            </a:r>
          </a:p>
        </p:txBody>
      </p:sp>
      <p:sp>
        <p:nvSpPr>
          <p:cNvPr id="9" name="TextBox 9"/>
          <p:cNvSpPr txBox="1"/>
          <p:nvPr/>
        </p:nvSpPr>
        <p:spPr>
          <a:xfrm>
            <a:off x="912864" y="1505141"/>
            <a:ext cx="9604272" cy="6353003"/>
          </a:xfrm>
          <a:prstGeom prst="rect">
            <a:avLst/>
          </a:prstGeom>
        </p:spPr>
        <p:txBody>
          <a:bodyPr lIns="0" tIns="0" rIns="0" bIns="0" rtlCol="0" anchor="t">
            <a:spAutoFit/>
          </a:bodyPr>
          <a:lstStyle/>
          <a:p>
            <a:pPr algn="l">
              <a:lnSpc>
                <a:spcPts val="5064"/>
              </a:lnSpc>
            </a:pPr>
            <a:r>
              <a:rPr lang="en-US" sz="2609" spc="5">
                <a:solidFill>
                  <a:srgbClr val="CFD0D8"/>
                </a:solidFill>
                <a:latin typeface="Poppins"/>
                <a:ea typeface="Poppins"/>
                <a:cs typeface="Poppins"/>
                <a:sym typeface="Poppins"/>
              </a:rPr>
              <a:t>Hardware Acceleration</a:t>
            </a:r>
          </a:p>
          <a:p>
            <a:pPr marL="563362" lvl="1" indent="-281681" algn="l">
              <a:lnSpc>
                <a:spcPts val="5064"/>
              </a:lnSpc>
              <a:buFont typeface="Arial"/>
              <a:buChar char="•"/>
            </a:pPr>
            <a:r>
              <a:rPr lang="en-US" sz="2609" spc="5">
                <a:solidFill>
                  <a:srgbClr val="CFD0D8"/>
                </a:solidFill>
                <a:latin typeface="Poppins"/>
                <a:ea typeface="Poppins"/>
                <a:cs typeface="Poppins"/>
                <a:sym typeface="Poppins"/>
              </a:rPr>
              <a:t>Build dedicated accelerators for NTT, hashing, and sampling on embedded platforms</a:t>
            </a:r>
          </a:p>
          <a:p>
            <a:pPr marL="563362" lvl="1" indent="-281681" algn="l">
              <a:lnSpc>
                <a:spcPts val="5064"/>
              </a:lnSpc>
              <a:buFont typeface="Arial"/>
              <a:buChar char="•"/>
            </a:pPr>
            <a:r>
              <a:rPr lang="en-US" sz="2609" spc="5">
                <a:solidFill>
                  <a:srgbClr val="CFD0D8"/>
                </a:solidFill>
                <a:latin typeface="Poppins"/>
                <a:ea typeface="Poppins"/>
                <a:cs typeface="Poppins"/>
                <a:sym typeface="Poppins"/>
              </a:rPr>
              <a:t>Use FPGAs and custom SoCs for real time post quantum authentication</a:t>
            </a:r>
          </a:p>
          <a:p>
            <a:pPr marL="563362" lvl="1" indent="-281681" algn="l">
              <a:lnSpc>
                <a:spcPts val="5064"/>
              </a:lnSpc>
              <a:buFont typeface="Arial"/>
              <a:buChar char="•"/>
            </a:pPr>
            <a:r>
              <a:rPr lang="en-US" sz="2609" spc="5">
                <a:solidFill>
                  <a:srgbClr val="CFD0D8"/>
                </a:solidFill>
                <a:latin typeface="Poppins"/>
                <a:ea typeface="Poppins"/>
                <a:cs typeface="Poppins"/>
                <a:sym typeface="Poppins"/>
              </a:rPr>
              <a:t>Deploy in IoT nodes, smart cards, edge processors, and secure gateways</a:t>
            </a:r>
          </a:p>
          <a:p>
            <a:pPr algn="l">
              <a:lnSpc>
                <a:spcPts val="5064"/>
              </a:lnSpc>
            </a:pPr>
            <a:r>
              <a:rPr lang="en-US" sz="2609" spc="5">
                <a:solidFill>
                  <a:srgbClr val="CFD0D8"/>
                </a:solidFill>
                <a:latin typeface="Poppins"/>
                <a:ea typeface="Poppins"/>
                <a:cs typeface="Poppins"/>
                <a:sym typeface="Poppins"/>
              </a:rPr>
              <a:t>Standardization and Interoperability</a:t>
            </a:r>
          </a:p>
          <a:p>
            <a:pPr marL="563362" lvl="1" indent="-281681" algn="l">
              <a:lnSpc>
                <a:spcPts val="5064"/>
              </a:lnSpc>
              <a:buFont typeface="Arial"/>
              <a:buChar char="•"/>
            </a:pPr>
            <a:r>
              <a:rPr lang="en-US" sz="2609" spc="5">
                <a:solidFill>
                  <a:srgbClr val="CFD0D8"/>
                </a:solidFill>
                <a:latin typeface="Poppins"/>
                <a:ea typeface="Poppins"/>
                <a:cs typeface="Poppins"/>
                <a:sym typeface="Poppins"/>
              </a:rPr>
              <a:t>Align with maturing NIST standards and certification processes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TotalTime>
  <Words>339</Words>
  <Application>Microsoft Office PowerPoint</Application>
  <PresentationFormat>Custom</PresentationFormat>
  <Paragraphs>50</Paragraphs>
  <Slides>13</Slides>
  <Notes>0</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13</vt:i4>
      </vt:variant>
    </vt:vector>
  </HeadingPairs>
  <TitlesOfParts>
    <vt:vector size="20" baseType="lpstr">
      <vt:lpstr>Times New Roman MT Condensed</vt:lpstr>
      <vt:lpstr>Calibri</vt:lpstr>
      <vt:lpstr>Open Sans</vt:lpstr>
      <vt:lpstr>Poppins</vt:lpstr>
      <vt:lpstr>Arial</vt:lpstr>
      <vt:lpstr>Office Theme</vt:lpstr>
      <vt:lpstr>Worksheet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CRYSTALS Kyber &amp; Dilithium Post-Quantum Cryptography</dc:title>
  <cp:lastModifiedBy>RAJALINGAM N</cp:lastModifiedBy>
  <cp:revision>3</cp:revision>
  <dcterms:created xsi:type="dcterms:W3CDTF">2006-08-16T00:00:00Z</dcterms:created>
  <dcterms:modified xsi:type="dcterms:W3CDTF">2026-07-12T19:35:28Z</dcterms:modified>
  <dc:identifier>DAG-17rym_o</dc:identifier>
</cp:coreProperties>
</file>